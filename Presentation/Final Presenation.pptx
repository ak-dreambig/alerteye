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38.jpg" ContentType="image/pn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62"/>
  </p:notesMasterIdLst>
  <p:sldIdLst>
    <p:sldId id="256" r:id="rId3"/>
    <p:sldId id="267" r:id="rId4"/>
    <p:sldId id="257" r:id="rId5"/>
    <p:sldId id="272" r:id="rId6"/>
    <p:sldId id="258" r:id="rId7"/>
    <p:sldId id="259" r:id="rId8"/>
    <p:sldId id="260" r:id="rId9"/>
    <p:sldId id="261" r:id="rId10"/>
    <p:sldId id="262" r:id="rId11"/>
    <p:sldId id="275" r:id="rId12"/>
    <p:sldId id="276" r:id="rId13"/>
    <p:sldId id="277" r:id="rId14"/>
    <p:sldId id="287" r:id="rId15"/>
    <p:sldId id="288" r:id="rId16"/>
    <p:sldId id="289" r:id="rId17"/>
    <p:sldId id="290" r:id="rId18"/>
    <p:sldId id="278" r:id="rId19"/>
    <p:sldId id="291" r:id="rId20"/>
    <p:sldId id="303" r:id="rId21"/>
    <p:sldId id="293" r:id="rId22"/>
    <p:sldId id="292" r:id="rId23"/>
    <p:sldId id="320" r:id="rId24"/>
    <p:sldId id="304" r:id="rId25"/>
    <p:sldId id="312" r:id="rId26"/>
    <p:sldId id="310" r:id="rId27"/>
    <p:sldId id="311" r:id="rId28"/>
    <p:sldId id="309" r:id="rId29"/>
    <p:sldId id="321" r:id="rId30"/>
    <p:sldId id="306" r:id="rId31"/>
    <p:sldId id="308" r:id="rId32"/>
    <p:sldId id="314" r:id="rId33"/>
    <p:sldId id="316" r:id="rId34"/>
    <p:sldId id="317" r:id="rId35"/>
    <p:sldId id="318" r:id="rId36"/>
    <p:sldId id="319" r:id="rId37"/>
    <p:sldId id="313" r:id="rId38"/>
    <p:sldId id="298" r:id="rId39"/>
    <p:sldId id="299" r:id="rId40"/>
    <p:sldId id="300" r:id="rId41"/>
    <p:sldId id="301" r:id="rId42"/>
    <p:sldId id="302" r:id="rId43"/>
    <p:sldId id="307" r:id="rId44"/>
    <p:sldId id="296" r:id="rId45"/>
    <p:sldId id="294" r:id="rId46"/>
    <p:sldId id="295" r:id="rId47"/>
    <p:sldId id="297" r:id="rId48"/>
    <p:sldId id="270" r:id="rId49"/>
    <p:sldId id="274" r:id="rId50"/>
    <p:sldId id="264" r:id="rId51"/>
    <p:sldId id="265" r:id="rId52"/>
    <p:sldId id="279" r:id="rId53"/>
    <p:sldId id="280" r:id="rId54"/>
    <p:sldId id="281" r:id="rId55"/>
    <p:sldId id="283" r:id="rId56"/>
    <p:sldId id="282" r:id="rId57"/>
    <p:sldId id="284" r:id="rId58"/>
    <p:sldId id="285" r:id="rId59"/>
    <p:sldId id="266" r:id="rId60"/>
    <p:sldId id="286" r:id="rId61"/>
  </p:sldIdLst>
  <p:sldSz cx="12192000" cy="6858000"/>
  <p:notesSz cx="6858000" cy="9144000"/>
  <p:embeddedFontLst>
    <p:embeddedFont>
      <p:font typeface="Century Schoolbook" panose="02040604050505020304" pitchFamily="18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ioFVUZmNIUWyZjd1R/2Qge8jqg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.fntdata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4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2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2B5076C-F4CD-9CE9-03DB-4AE4C79B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D1291EF1-7C95-48D6-D5D4-ECF8FBA54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60030811-D8F1-4F4C-8017-BC59EAB27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94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F71D469-9033-5D8C-0DFB-363225E1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D43FE85-71A9-000F-4464-F01FB6A6F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070EF403-4E10-28DA-5CED-9A0E4263A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4166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B306C84-41C1-ECAD-B443-4FCD29B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E7087BFE-4F2A-FFE2-933C-0F2D9D4AF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69B8C72-6A91-A990-E7FF-CD04EC01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110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B306C84-41C1-ECAD-B443-4FCD29B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E7087BFE-4F2A-FFE2-933C-0F2D9D4AF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69B8C72-6A91-A990-E7FF-CD04EC01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181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B306C84-41C1-ECAD-B443-4FCD29B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E7087BFE-4F2A-FFE2-933C-0F2D9D4AF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69B8C72-6A91-A990-E7FF-CD04EC01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006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B306C84-41C1-ECAD-B443-4FCD29B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E7087BFE-4F2A-FFE2-933C-0F2D9D4AF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69B8C72-6A91-A990-E7FF-CD04EC01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8632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B306C84-41C1-ECAD-B443-4FCD29B6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E7087BFE-4F2A-FFE2-933C-0F2D9D4AF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969B8C72-6A91-A990-E7FF-CD04EC01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95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7577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A0677710-E38C-D22F-0C21-35F4FD7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>
            <a:extLst>
              <a:ext uri="{FF2B5EF4-FFF2-40B4-BE49-F238E27FC236}">
                <a16:creationId xmlns:a16="http://schemas.microsoft.com/office/drawing/2014/main" id="{0DDCA967-430D-9138-A8F1-A1A22F13A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>
            <a:extLst>
              <a:ext uri="{FF2B5EF4-FFF2-40B4-BE49-F238E27FC236}">
                <a16:creationId xmlns:a16="http://schemas.microsoft.com/office/drawing/2014/main" id="{61F17FFC-C291-3759-E65E-505967043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692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A0677710-E38C-D22F-0C21-35F4FD7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>
            <a:extLst>
              <a:ext uri="{FF2B5EF4-FFF2-40B4-BE49-F238E27FC236}">
                <a16:creationId xmlns:a16="http://schemas.microsoft.com/office/drawing/2014/main" id="{0DDCA967-430D-9138-A8F1-A1A22F13A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>
            <a:extLst>
              <a:ext uri="{FF2B5EF4-FFF2-40B4-BE49-F238E27FC236}">
                <a16:creationId xmlns:a16="http://schemas.microsoft.com/office/drawing/2014/main" id="{61F17FFC-C291-3759-E65E-505967043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1124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673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196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3576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096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109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598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858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783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fif"/><Relationship Id="rId5" Type="http://schemas.openxmlformats.org/officeDocument/2006/relationships/hyperlink" Target="https://www.emro.who.int/emhj-volume-28-2022/volume-28-issue-9/risk-assessment-of-road-traffic-accidents-related-to-sleepiness-during-driving-a-systematic-review.html#:~:text=Sleepiness%20while%20driving%20contributes%20to,deprivation%20(19%E2%80%9320)." TargetMode="External"/><Relationship Id="rId4" Type="http://schemas.openxmlformats.org/officeDocument/2006/relationships/hyperlink" Target="https://www.nylawnet.com/blog/drowsy-driving-an-underrated-dange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leepfoundation.org/sleep-news/drowsy-driving-is-a-factor-in-21-percent-of-fatal-crashes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87705091931567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erenaraju/yawn-eye-dataset-new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rochi.utcluj.ro/articole/10/RoCHI2022-Cojocaru-I-1.pdf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967958" y="697581"/>
            <a:ext cx="9395242" cy="364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 sz="6600" b="0" i="0" dirty="0">
                <a:solidFill>
                  <a:srgbClr val="F9F9F9"/>
                </a:solidFill>
                <a:effectLst/>
                <a:latin typeface="+mj-lt"/>
              </a:rPr>
              <a:t>Real-time Image-based Driver Drowsiness Detection using Deep Learning</a:t>
            </a:r>
            <a:endParaRPr sz="6600" dirty="0">
              <a:latin typeface="+mj-lt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dirty="0"/>
              <a:t>Group Members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 dirty="0"/>
              <a:t>Aimal Khan (20P-0028)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/>
              <a:t>Saad Rahman (20P-0027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108" name="Google Shape;108;p1"/>
          <p:cNvSpPr txBox="1"/>
          <p:nvPr/>
        </p:nvSpPr>
        <p:spPr>
          <a:xfrm>
            <a:off x="6969967" y="4862649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dirty="0"/>
          </a:p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 Hafeez Anwar</a:t>
            </a:r>
            <a:endParaRPr dirty="0"/>
          </a:p>
        </p:txBody>
      </p:sp>
      <p:pic>
        <p:nvPicPr>
          <p:cNvPr id="109" name="Google Shape;109;p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6768" y="196336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DA6A26D-3797-55D2-D39C-2E90BC24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6ED107-761F-F97C-0473-DB0FE1EB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417" y="896426"/>
            <a:ext cx="2841277" cy="1408600"/>
          </a:xfrm>
          <a:prstGeom prst="rect">
            <a:avLst/>
          </a:prstGeom>
        </p:spPr>
      </p:pic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0C72D069-770D-4EC3-2946-A850B4740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5020FDC7-4661-962C-6636-0C6C9EB57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8750" y="1257300"/>
            <a:ext cx="7653402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indent="-342900">
              <a:spcBef>
                <a:spcPts val="0"/>
              </a:spcBef>
            </a:pPr>
            <a:endParaRPr lang="en-US" sz="2400" dirty="0"/>
          </a:p>
          <a:p>
            <a:pPr marL="342900" indent="-342900">
              <a:spcBef>
                <a:spcPts val="0"/>
              </a:spcBef>
            </a:pPr>
            <a:r>
              <a:rPr lang="en-US" sz="2400" dirty="0"/>
              <a:t>Drowsy driving is one of the most underrated reason for car accidents. (</a:t>
            </a:r>
            <a:r>
              <a:rPr lang="en-US" sz="2400" dirty="0">
                <a:hlinkClick r:id="rId4"/>
              </a:rPr>
              <a:t>Drowsy Driving: An Underrated Danger</a:t>
            </a:r>
            <a:r>
              <a:rPr lang="en-US" sz="2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342900" indent="-342900">
              <a:spcBef>
                <a:spcPts val="0"/>
              </a:spcBef>
            </a:pPr>
            <a:r>
              <a:rPr lang="en-US" sz="2400" dirty="0"/>
              <a:t>Drowsy driving impairs cognitive functions, reduces reaction times which increases the likelihood of accidents.</a:t>
            </a:r>
          </a:p>
          <a:p>
            <a:pPr marL="342900" indent="-342900">
              <a:spcBef>
                <a:spcPts val="0"/>
              </a:spcBef>
            </a:pPr>
            <a:endParaRPr lang="en-US" sz="2400" dirty="0"/>
          </a:p>
          <a:p>
            <a:pPr marL="342900" indent="-342900">
              <a:spcBef>
                <a:spcPts val="0"/>
              </a:spcBef>
            </a:pPr>
            <a:r>
              <a:rPr lang="en-US" sz="2400" dirty="0"/>
              <a:t>The US National Highway Traffic Safety Administration has estimated that worldwide every year, about 100,000 road accidents are caused by drowsiness, accounting for &gt; 1500 deaths and &gt; 70,000 injuries. (</a:t>
            </a:r>
            <a:r>
              <a:rPr lang="en-US" sz="2400" dirty="0">
                <a:hlinkClick r:id="rId5"/>
              </a:rPr>
              <a:t>WHO</a:t>
            </a:r>
            <a:r>
              <a:rPr lang="en-US" sz="2400" dirty="0"/>
              <a:t>)</a:t>
            </a: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1AB4E731-B489-CBBA-C987-63661AE7A8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08827-E243-562A-E566-21C1F96EE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417" y="4119920"/>
            <a:ext cx="2841277" cy="1506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A7BAD2-8B9D-8BAD-EBBE-97AAE85FCD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418" y="2514748"/>
            <a:ext cx="1381125" cy="138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78709-A2AA-DE48-DE30-430389CBC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7570" y="2502219"/>
            <a:ext cx="13811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3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F3807A-3A38-11CF-0527-B9D576DB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36628" y="1845424"/>
            <a:ext cx="2368487" cy="3160093"/>
          </a:xfrm>
          <a:prstGeom prst="rect">
            <a:avLst/>
          </a:prstGeom>
        </p:spPr>
      </p:pic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1261872" y="1396046"/>
            <a:ext cx="6486961" cy="517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Century Schoolbook" panose="02040604050505020304" pitchFamily="18" charset="0"/>
              </a:rPr>
              <a:t>Our project aims to enhance road safety by utilizing deep learning for real-time driver drowsiness detection through a specialized mobile application, providing timely alerts to prevent potential accidents caused by impaired driver alertness.</a:t>
            </a:r>
            <a:endParaRPr lang="en-US" sz="2400" dirty="0">
              <a:latin typeface="Century Schoolbook" panose="020406040505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182880" indent="-182880">
              <a:spcBef>
                <a:spcPts val="0"/>
              </a:spcBef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182880" indent="-182880">
              <a:spcBef>
                <a:spcPts val="0"/>
              </a:spcBef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400" dirty="0">
              <a:latin typeface="Century Schoolbook" panose="02040604050505020304" pitchFamily="18" charset="0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422F4-B7E2-D6EA-4225-B6D6DF116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107" y="4835964"/>
            <a:ext cx="3152733" cy="1966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49E137-C50F-F98E-5361-3F5AF9564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107" y="56562"/>
            <a:ext cx="3152733" cy="1966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46BA3A8-94D2-642A-EA08-5EC1D8BD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350DE1D5-6840-528E-623F-91BEAE865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Introduction</a:t>
            </a:r>
            <a:endParaRPr dirty="0"/>
          </a:p>
        </p:txBody>
      </p:sp>
      <p:pic>
        <p:nvPicPr>
          <p:cNvPr id="116" name="Google Shape;116;p2" descr="National University of Computer and Emerging Sciences - Wikipedia">
            <a:extLst>
              <a:ext uri="{FF2B5EF4-FFF2-40B4-BE49-F238E27FC236}">
                <a16:creationId xmlns:a16="http://schemas.microsoft.com/office/drawing/2014/main" id="{5271A3AF-5F75-A0CD-B233-84C13A5060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85697525-4E62-2CA4-AEBB-BBBE6B96D8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63395-A2C0-0B12-950E-6E5F04CF6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089" y="2240831"/>
            <a:ext cx="5744998" cy="4057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292107-57B2-3B14-FAF8-3F634322D320}"/>
              </a:ext>
            </a:extLst>
          </p:cNvPr>
          <p:cNvSpPr txBox="1"/>
          <p:nvPr/>
        </p:nvSpPr>
        <p:spPr>
          <a:xfrm>
            <a:off x="2297462" y="1649285"/>
            <a:ext cx="62782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effectLst/>
                <a:latin typeface="Arial" panose="020B0604020202020204" pitchFamily="34" charset="0"/>
                <a:hlinkClick r:id="rId5"/>
              </a:rPr>
              <a:t>Drowsy Driving Is a Factor in 21% of Fatal Crashes. Why Don’t We Talk About It More? – Sleep Foundation</a:t>
            </a:r>
            <a:endParaRPr lang="en-US" b="1" i="0" dirty="0">
              <a:effectLst/>
              <a:latin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8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1261872" y="1714500"/>
            <a:ext cx="6006194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</a:pPr>
            <a:endParaRPr lang="en-US" sz="2200" dirty="0"/>
          </a:p>
          <a:p>
            <a:pPr indent="-457200">
              <a:spcBef>
                <a:spcPts val="0"/>
              </a:spcBef>
            </a:pPr>
            <a:r>
              <a:rPr lang="en-US" sz="2200" b="1" dirty="0"/>
              <a:t>Road Safety</a:t>
            </a:r>
          </a:p>
          <a:p>
            <a:pPr indent="-457200">
              <a:spcBef>
                <a:spcPts val="0"/>
              </a:spcBef>
            </a:pPr>
            <a:endParaRPr lang="en-US" sz="2200" b="1" dirty="0"/>
          </a:p>
          <a:p>
            <a:pPr indent="-457200">
              <a:spcBef>
                <a:spcPts val="0"/>
              </a:spcBef>
            </a:pPr>
            <a:r>
              <a:rPr lang="en-US" sz="2200" b="1" dirty="0"/>
              <a:t>Technological Advancements</a:t>
            </a:r>
          </a:p>
          <a:p>
            <a:pPr indent="-457200">
              <a:spcBef>
                <a:spcPts val="0"/>
              </a:spcBef>
            </a:pPr>
            <a:endParaRPr lang="en-US" sz="2200" b="1" dirty="0"/>
          </a:p>
          <a:p>
            <a:pPr indent="-457200">
              <a:spcBef>
                <a:spcPts val="0"/>
              </a:spcBef>
            </a:pPr>
            <a:r>
              <a:rPr lang="en-US" sz="2200" b="1" dirty="0"/>
              <a:t>Cost Effective Solution</a:t>
            </a:r>
          </a:p>
          <a:p>
            <a:pPr indent="-457200">
              <a:spcBef>
                <a:spcPts val="0"/>
              </a:spcBef>
            </a:pPr>
            <a:endParaRPr lang="en-US" sz="2200" b="1" dirty="0"/>
          </a:p>
          <a:p>
            <a:pPr indent="-457200">
              <a:spcBef>
                <a:spcPts val="0"/>
              </a:spcBef>
            </a:pPr>
            <a:r>
              <a:rPr lang="en-US" sz="2200" b="1" dirty="0"/>
              <a:t>Promoting Driver Awareness</a:t>
            </a:r>
          </a:p>
          <a:p>
            <a:pPr indent="-457200">
              <a:spcBef>
                <a:spcPts val="0"/>
              </a:spcBef>
            </a:pPr>
            <a:endParaRPr lang="en-US" sz="2200" b="1" dirty="0"/>
          </a:p>
          <a:p>
            <a:pPr indent="-457200">
              <a:spcBef>
                <a:spcPts val="0"/>
              </a:spcBef>
            </a:pPr>
            <a:r>
              <a:rPr lang="en-US" sz="2200" b="1" dirty="0"/>
              <a:t>Room For Further Advancement And Research</a:t>
            </a:r>
          </a:p>
          <a:p>
            <a:pPr indent="-457200">
              <a:spcBef>
                <a:spcPts val="0"/>
              </a:spcBef>
            </a:pPr>
            <a:endParaRPr lang="en-US" sz="2200" b="1" dirty="0"/>
          </a:p>
          <a:p>
            <a:pPr indent="-457200">
              <a:spcBef>
                <a:spcPts val="0"/>
              </a:spcBef>
            </a:pPr>
            <a:endParaRPr lang="en-US" sz="2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 marL="137160" indent="0">
              <a:lnSpc>
                <a:spcPct val="100000"/>
              </a:lnSpc>
              <a:buNone/>
            </a:pP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dirty="0">
              <a:latin typeface="+mj-l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dirty="0">
              <a:latin typeface="+mj-lt"/>
            </a:endParaRPr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25" name="Google Shape;125;p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993AF7-22F4-5A90-2537-2BBABCC4B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800" y="2274221"/>
            <a:ext cx="1864985" cy="2831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1AC412-15D7-C7FF-3A52-001D285D4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718" y="2273386"/>
            <a:ext cx="2199334" cy="1466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F4A1A-9776-3864-7E8E-A4CF244C1C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5104" y="3761135"/>
            <a:ext cx="2199334" cy="1338768"/>
          </a:xfrm>
          <a:prstGeom prst="rect">
            <a:avLst/>
          </a:prstGeom>
        </p:spPr>
      </p:pic>
      <p:sp>
        <p:nvSpPr>
          <p:cNvPr id="11" name="Google Shape;114;p2">
            <a:extLst>
              <a:ext uri="{FF2B5EF4-FFF2-40B4-BE49-F238E27FC236}">
                <a16:creationId xmlns:a16="http://schemas.microsoft.com/office/drawing/2014/main" id="{585DC1CB-BE3E-F6B8-3E4E-46251F38BA32}"/>
              </a:ext>
            </a:extLst>
          </p:cNvPr>
          <p:cNvSpPr txBox="1">
            <a:spLocks/>
          </p:cNvSpPr>
          <p:nvPr/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Motivation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b="0" i="1" dirty="0">
                <a:solidFill>
                  <a:srgbClr val="0D0D0D"/>
                </a:solidFill>
                <a:effectLst/>
                <a:latin typeface="Century Schoolbook" panose="02040604050505020304" pitchFamily="18" charset="0"/>
              </a:rPr>
              <a:t>Current methods for detecting driver drowsiness lack real-time accuracy and require extra hardware, making them inconvenient and less effective. There's a need for a highly accurate, real-time solution that is user-friendly and doesn't rely on additional equipment.</a:t>
            </a:r>
            <a:endParaRPr lang="en-US" sz="2400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32" name="Google Shape;132;p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822A782D-1C32-C1A4-AA7A-0FDDB924E9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4;p2">
            <a:extLst>
              <a:ext uri="{FF2B5EF4-FFF2-40B4-BE49-F238E27FC236}">
                <a16:creationId xmlns:a16="http://schemas.microsoft.com/office/drawing/2014/main" id="{EA6E0F24-8CF8-7CE3-9E78-6B02402A3EED}"/>
              </a:ext>
            </a:extLst>
          </p:cNvPr>
          <p:cNvSpPr txBox="1">
            <a:spLocks/>
          </p:cNvSpPr>
          <p:nvPr/>
        </p:nvSpPr>
        <p:spPr>
          <a:xfrm>
            <a:off x="1261871" y="419099"/>
            <a:ext cx="5101221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Problem 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Our solution is to develop a user-friendly mobile application utilizing cutting-edge deep learning algorithms for real-time driver drowsiness detection. The application will leverage the mobile camera and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mobile sensors </a:t>
            </a:r>
            <a:r>
              <a:rPr lang="en-US" sz="2800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to ensure accurate detection and timely alerts, ultimately enhancing road safety and preventing potential car accidents.</a:t>
            </a:r>
            <a:endParaRPr lang="en-AU" sz="2800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0" name="Google Shape;140;p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4;p2">
            <a:extLst>
              <a:ext uri="{FF2B5EF4-FFF2-40B4-BE49-F238E27FC236}">
                <a16:creationId xmlns:a16="http://schemas.microsoft.com/office/drawing/2014/main" id="{D8364CE2-03A4-A415-A862-0F5BE24FAB39}"/>
              </a:ext>
            </a:extLst>
          </p:cNvPr>
          <p:cNvSpPr txBox="1">
            <a:spLocks/>
          </p:cNvSpPr>
          <p:nvPr/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Our focus will be to detect driver drowsiness from real-time images of the driver and mobile sensors (considering there are many methods to detect driver drowsiness e.g. 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  <a:hlinkClick r:id="rId3"/>
              </a:rPr>
              <a:t>Through ECG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).</a:t>
            </a: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Drowsiness detection will be done based on the available Image datasets and sensor datasets.</a:t>
            </a: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Our other area of focus will be to develop an effective alert system to alert the driver in case of drowsiness detection.</a:t>
            </a: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Mobile Application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and Model Development.</a:t>
            </a: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entury Schoolbook" panose="02040604050505020304" pitchFamily="18" charset="0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lang="en-US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47" name="Google Shape;147;p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48" name="Google Shape;148;p6" descr="National University of Computer and Emerging Sciences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4;p2">
            <a:extLst>
              <a:ext uri="{FF2B5EF4-FFF2-40B4-BE49-F238E27FC236}">
                <a16:creationId xmlns:a16="http://schemas.microsoft.com/office/drawing/2014/main" id="{8E6FBF62-DE98-46A9-4E4F-AEA7EB6D8BE7}"/>
              </a:ext>
            </a:extLst>
          </p:cNvPr>
          <p:cNvSpPr txBox="1">
            <a:spLocks/>
          </p:cNvSpPr>
          <p:nvPr/>
        </p:nvSpPr>
        <p:spPr>
          <a:xfrm>
            <a:off x="1261871" y="419099"/>
            <a:ext cx="4233955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Scope Of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Achieve a high accuracy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Achieve high battery efficiency</a:t>
            </a:r>
            <a:endParaRPr lang="en-AU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Achieve a good real-time detection performance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Storage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Creation of a</a:t>
            </a:r>
            <a:r>
              <a:rPr lang="en-AU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 user friendly interface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Capability to detect drowsiness in different driving conditions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Document the complete development process</a:t>
            </a:r>
            <a:endParaRPr lang="en-AU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9BB2DF58-2CF1-783E-5E62-AE4992A282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E069B715-54B1-623B-1537-C761F8654294}"/>
              </a:ext>
            </a:extLst>
          </p:cNvPr>
          <p:cNvSpPr txBox="1">
            <a:spLocks/>
          </p:cNvSpPr>
          <p:nvPr/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1E5442F-AE9E-D67B-D6B7-6ADA1075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0D241-6960-BFF5-AC88-5DA80065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82" y="0"/>
            <a:ext cx="10744739" cy="6858000"/>
          </a:xfrm>
          <a:prstGeom prst="rect">
            <a:avLst/>
          </a:prstGeom>
        </p:spPr>
      </p:pic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A654E1CE-0FCD-4D0E-E119-A87286955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40" name="Google Shape;140;p5" descr="National University of Computer and Emerging Sciences - Wikipedia">
            <a:extLst>
              <a:ext uri="{FF2B5EF4-FFF2-40B4-BE49-F238E27FC236}">
                <a16:creationId xmlns:a16="http://schemas.microsoft.com/office/drawing/2014/main" id="{CC6F3B65-D4C4-8D80-07BF-EE0C88D3DA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650" y="193313"/>
            <a:ext cx="1145291" cy="114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3E8570FA-090C-8C9E-875F-DF378F2E104E}"/>
              </a:ext>
            </a:extLst>
          </p:cNvPr>
          <p:cNvSpPr txBox="1">
            <a:spLocks/>
          </p:cNvSpPr>
          <p:nvPr/>
        </p:nvSpPr>
        <p:spPr>
          <a:xfrm>
            <a:off x="417163" y="190044"/>
            <a:ext cx="5421732" cy="57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76748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1E5442F-AE9E-D67B-D6B7-6ADA1075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06F8E-7174-632E-4CE3-8B5221114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038" y="0"/>
            <a:ext cx="6139097" cy="7551506"/>
          </a:xfrm>
          <a:prstGeom prst="rect">
            <a:avLst/>
          </a:prstGeom>
        </p:spPr>
      </p:pic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A654E1CE-0FCD-4D0E-E119-A87286955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40" name="Google Shape;140;p5" descr="National University of Computer and Emerging Sciences - Wikipedia">
            <a:extLst>
              <a:ext uri="{FF2B5EF4-FFF2-40B4-BE49-F238E27FC236}">
                <a16:creationId xmlns:a16="http://schemas.microsoft.com/office/drawing/2014/main" id="{CC6F3B65-D4C4-8D80-07BF-EE0C88D3DA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650" y="193313"/>
            <a:ext cx="1145291" cy="114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3E8570FA-090C-8C9E-875F-DF378F2E104E}"/>
              </a:ext>
            </a:extLst>
          </p:cNvPr>
          <p:cNvSpPr txBox="1">
            <a:spLocks/>
          </p:cNvSpPr>
          <p:nvPr/>
        </p:nvSpPr>
        <p:spPr>
          <a:xfrm>
            <a:off x="373620" y="193313"/>
            <a:ext cx="5421732" cy="57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3600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256526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1E5442F-AE9E-D67B-D6B7-6ADA1075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81C8CE-791F-D667-3AA2-47CD00686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87" y="0"/>
            <a:ext cx="8515944" cy="6858000"/>
          </a:xfrm>
          <a:prstGeom prst="rect">
            <a:avLst/>
          </a:prstGeom>
        </p:spPr>
      </p:pic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A654E1CE-0FCD-4D0E-E119-A87286955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40" name="Google Shape;140;p5" descr="National University of Computer and Emerging Sciences - Wikipedia">
            <a:extLst>
              <a:ext uri="{FF2B5EF4-FFF2-40B4-BE49-F238E27FC236}">
                <a16:creationId xmlns:a16="http://schemas.microsoft.com/office/drawing/2014/main" id="{CC6F3B65-D4C4-8D80-07BF-EE0C88D3DA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650" y="193313"/>
            <a:ext cx="1145291" cy="114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3E8570FA-090C-8C9E-875F-DF378F2E104E}"/>
              </a:ext>
            </a:extLst>
          </p:cNvPr>
          <p:cNvSpPr txBox="1">
            <a:spLocks/>
          </p:cNvSpPr>
          <p:nvPr/>
        </p:nvSpPr>
        <p:spPr>
          <a:xfrm>
            <a:off x="451166" y="282806"/>
            <a:ext cx="3870370" cy="57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3600" dirty="0"/>
              <a:t>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181454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1E5442F-AE9E-D67B-D6B7-6ADA1075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A654E1CE-0FCD-4D0E-E119-A87286955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40" name="Google Shape;140;p5" descr="National University of Computer and Emerging Sciences - Wikipedia">
            <a:extLst>
              <a:ext uri="{FF2B5EF4-FFF2-40B4-BE49-F238E27FC236}">
                <a16:creationId xmlns:a16="http://schemas.microsoft.com/office/drawing/2014/main" id="{CC6F3B65-D4C4-8D80-07BF-EE0C88D3DA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193313"/>
            <a:ext cx="1145291" cy="114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3E8570FA-090C-8C9E-875F-DF378F2E104E}"/>
              </a:ext>
            </a:extLst>
          </p:cNvPr>
          <p:cNvSpPr txBox="1">
            <a:spLocks/>
          </p:cNvSpPr>
          <p:nvPr/>
        </p:nvSpPr>
        <p:spPr>
          <a:xfrm>
            <a:off x="451166" y="282806"/>
            <a:ext cx="3870370" cy="57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3600" dirty="0"/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11CF8-822E-B368-94A3-A4577944D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5" y="1303434"/>
            <a:ext cx="1894114" cy="5005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E5277-368A-338B-25AE-D794BEF9F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26" y="1044689"/>
            <a:ext cx="1571625" cy="52464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32621-0E24-1AFC-ED27-160481B84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458" y="1268704"/>
            <a:ext cx="1528080" cy="50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1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B833-2F99-493E-BE49-5A5A04826A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B9F7F-90B6-756F-CABF-7BC3C5652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65" y="304800"/>
            <a:ext cx="2899220" cy="624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5327B-26C3-56F6-24F1-7A11828D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201" y="217714"/>
            <a:ext cx="2591598" cy="6335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C9855E-6D05-E263-98C8-3A985EC8E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780" y="304800"/>
            <a:ext cx="3001750" cy="629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73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4EC4D8-7E38-FFD6-82CD-1AE11ADCD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BE72A-8993-B966-3E51-0BCD5E3E5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76" y="286883"/>
            <a:ext cx="2947004" cy="6177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77D528-63DA-24F3-51A4-8F147F0B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838" y="286883"/>
            <a:ext cx="2944624" cy="617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9E29C-07C5-952B-CE57-2FE8377B4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921" y="353785"/>
            <a:ext cx="2944624" cy="617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0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CFFAE-48DA-973C-A0CF-13635BA8B5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DA90F-C8FA-2D3C-DE17-1C5FA9115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09" y="223157"/>
            <a:ext cx="2586581" cy="64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1E5442F-AE9E-D67B-D6B7-6ADA1075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39D30-F355-8DCB-4C16-5858804D0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370"/>
            <a:ext cx="12192000" cy="5931673"/>
          </a:xfrm>
          <a:prstGeom prst="rect">
            <a:avLst/>
          </a:prstGeom>
        </p:spPr>
      </p:pic>
      <p:sp>
        <p:nvSpPr>
          <p:cNvPr id="139" name="Google Shape;139;p5">
            <a:extLst>
              <a:ext uri="{FF2B5EF4-FFF2-40B4-BE49-F238E27FC236}">
                <a16:creationId xmlns:a16="http://schemas.microsoft.com/office/drawing/2014/main" id="{A654E1CE-0FCD-4D0E-E119-A87286955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40" name="Google Shape;140;p5" descr="National University of Computer and Emerging Sciences - Wikipedia">
            <a:extLst>
              <a:ext uri="{FF2B5EF4-FFF2-40B4-BE49-F238E27FC236}">
                <a16:creationId xmlns:a16="http://schemas.microsoft.com/office/drawing/2014/main" id="{CC6F3B65-D4C4-8D80-07BF-EE0C88D3DA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9536" y="106227"/>
            <a:ext cx="1145291" cy="1145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5029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6617F-F4EC-62BC-9D30-2FD475D151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D151F-A41F-79DE-1C48-135ED6F169E1}"/>
              </a:ext>
            </a:extLst>
          </p:cNvPr>
          <p:cNvSpPr txBox="1"/>
          <p:nvPr/>
        </p:nvSpPr>
        <p:spPr>
          <a:xfrm>
            <a:off x="250371" y="23361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lang="en-US" sz="3600" dirty="0"/>
              <a:t>UI/UX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27B1FB-18B5-BBC5-BD99-7C3CF8EA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08" y="669693"/>
            <a:ext cx="2653393" cy="5896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530484-58FC-AD39-BF5A-2BD294566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921" y="669692"/>
            <a:ext cx="2653393" cy="5896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E33C67-F8E1-3F75-04D8-D1028879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75" y="291512"/>
            <a:ext cx="2984740" cy="647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4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05A73-E727-6726-C5EE-A4AD73B9EA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0BFD5-4AAC-EBC2-5D0B-99356E624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94" y="310101"/>
            <a:ext cx="2704169" cy="6076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A64B4-EAFA-A3F5-7E4F-513292B8F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883" y="321907"/>
            <a:ext cx="2704169" cy="6045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BF7416-4B83-4F01-1999-D15660560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962" y="310101"/>
            <a:ext cx="2779022" cy="61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1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5D86AC-6766-9006-9FC6-B22E0B6B8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A07E2-5030-9C5A-E533-367BEE76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5" y="342900"/>
            <a:ext cx="2777490" cy="617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3235EA-D5C8-9079-6B4F-3FB371D4E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834" y="342901"/>
            <a:ext cx="2777490" cy="61721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E79CCD-E9B5-11FC-BAB3-D88C8306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171" y="342900"/>
            <a:ext cx="277749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52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7A766A-D7B1-23E6-0657-2981EDD16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91942-B7E9-0848-49A7-0AD52DD9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76" y="46490"/>
            <a:ext cx="2890157" cy="6422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93A062-3FD0-583A-AF94-8B6DD0243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47" y="46492"/>
            <a:ext cx="2890157" cy="642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38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Models: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Images Classification: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Custom CNN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MobileNet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Sensors Data: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forest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Dense NN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LSTM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CNN-LSTM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ConvLSTM2D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571500" lvl="1" indent="0">
              <a:buNone/>
            </a:pPr>
            <a:endParaRPr lang="en-US" sz="2200" dirty="0"/>
          </a:p>
          <a:p>
            <a:pPr marL="571500" lvl="1" indent="0">
              <a:buNone/>
            </a:pPr>
            <a:endParaRPr lang="en-US" sz="22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258869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Models Used (Image Classification):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detect yawning and eye state comparison was done between </a:t>
            </a:r>
            <a:r>
              <a:rPr lang="en-US" sz="2400" b="1" dirty="0" err="1"/>
              <a:t>MobileNet</a:t>
            </a:r>
            <a:r>
              <a:rPr lang="en-US" sz="2400" b="1" dirty="0"/>
              <a:t> and Custom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Custom CNN: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Computationally expensive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Requires extensive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MobileNet</a:t>
            </a:r>
            <a:r>
              <a:rPr lang="en-US" sz="2400" b="1" dirty="0"/>
              <a:t> 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Lightweight and highly optimized for mobile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Pretrained on ImageNet can provide higher accuracy for detecting complex features</a:t>
            </a:r>
          </a:p>
          <a:p>
            <a:pPr marL="5715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36260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Models Used (</a:t>
            </a:r>
            <a:r>
              <a:rPr lang="en-AU" dirty="0" err="1"/>
              <a:t>MobileNet</a:t>
            </a:r>
            <a:r>
              <a:rPr lang="en-AU" dirty="0"/>
              <a:t>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r>
              <a:rPr lang="en-AU" sz="2400" b="1" dirty="0" err="1"/>
              <a:t>MobileNet</a:t>
            </a:r>
            <a:r>
              <a:rPr lang="en-AU" sz="2400" dirty="0"/>
              <a:t>:</a:t>
            </a:r>
          </a:p>
          <a:p>
            <a:pPr lvl="1"/>
            <a:r>
              <a:rPr lang="en-AU" sz="2200" b="1" dirty="0"/>
              <a:t>MobileNetV2 pre-trained on ImageNet</a:t>
            </a:r>
          </a:p>
          <a:p>
            <a:pPr lvl="1"/>
            <a:r>
              <a:rPr lang="en-AU" sz="2200" b="1" dirty="0"/>
              <a:t>Base Layers frozen</a:t>
            </a:r>
          </a:p>
          <a:p>
            <a:pPr lvl="1"/>
            <a:r>
              <a:rPr lang="en-AU" sz="2200" b="1" dirty="0"/>
              <a:t>GlobalAveragePooling2D</a:t>
            </a:r>
          </a:p>
          <a:p>
            <a:pPr lvl="1"/>
            <a:r>
              <a:rPr lang="en-AU" sz="2200" b="1" dirty="0"/>
              <a:t>Dropout (0.5)</a:t>
            </a:r>
          </a:p>
          <a:p>
            <a:pPr lvl="1"/>
            <a:r>
              <a:rPr lang="en-AU" sz="2200" b="1" dirty="0"/>
              <a:t>Dense Layer with Sigmoid and 1 unit</a:t>
            </a:r>
          </a:p>
          <a:p>
            <a:pPr lvl="1"/>
            <a:r>
              <a:rPr lang="en-AU" sz="2200" b="1" dirty="0"/>
              <a:t>Optimization</a:t>
            </a:r>
            <a:r>
              <a:rPr lang="en-AU" sz="2000" b="1" dirty="0"/>
              <a:t>: </a:t>
            </a:r>
            <a:r>
              <a:rPr lang="en-AU" sz="2400" dirty="0"/>
              <a:t>Adam Optimizer and Binary </a:t>
            </a:r>
            <a:r>
              <a:rPr lang="en-AU" sz="2400" dirty="0" err="1"/>
              <a:t>Crossentropy</a:t>
            </a:r>
            <a:r>
              <a:rPr lang="en-AU" sz="2400" dirty="0"/>
              <a:t> loss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25529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Models Used(custom CNN):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200" b="1" dirty="0"/>
              <a:t>Custom CNN</a:t>
            </a:r>
            <a:r>
              <a:rPr lang="en-AU" sz="22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First Conv Block: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Conv2D (32 filters, 3x3, </a:t>
            </a:r>
            <a:r>
              <a:rPr lang="en-AU" sz="1800" dirty="0" err="1"/>
              <a:t>ReLU</a:t>
            </a:r>
            <a:r>
              <a:rPr lang="en-AU" sz="1800" dirty="0"/>
              <a:t>, ‘same’ padding)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 err="1"/>
              <a:t>BatchNormalization</a:t>
            </a:r>
            <a:endParaRPr lang="en-AU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MaxPooling2D (2x2)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Dropout (0.25)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AU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Second Conv Block: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Conv2D (64 filters, 3x3, </a:t>
            </a:r>
            <a:r>
              <a:rPr lang="en-AU" sz="1800" dirty="0" err="1"/>
              <a:t>ReLU</a:t>
            </a:r>
            <a:r>
              <a:rPr lang="en-AU" sz="1800" dirty="0"/>
              <a:t>, ‘same’ padding)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 err="1"/>
              <a:t>BatchNormalization</a:t>
            </a:r>
            <a:endParaRPr lang="en-AU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MaxPooling2D (2x2)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Dropout (0.25)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AU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Third Conv Block: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Conv2D (128 filters, 3x3, </a:t>
            </a:r>
            <a:r>
              <a:rPr lang="en-AU" sz="1800" dirty="0" err="1"/>
              <a:t>ReLU</a:t>
            </a:r>
            <a:r>
              <a:rPr lang="en-AU" sz="1800" dirty="0"/>
              <a:t>, ‘same’ padding)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 err="1"/>
              <a:t>BatchNormalization</a:t>
            </a:r>
            <a:endParaRPr lang="en-AU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MaxPooling2D (2x2)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Dropout (0.25)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AU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GlobalAveragePooling2D</a:t>
            </a:r>
          </a:p>
          <a:p>
            <a:pPr marL="571500" lvl="1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24647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Models Used (custom CNN):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Fully Connected Layer: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Dense (256 units, </a:t>
            </a:r>
            <a:r>
              <a:rPr lang="en-AU" sz="1800" dirty="0" err="1"/>
              <a:t>ReLU</a:t>
            </a:r>
            <a:r>
              <a:rPr lang="en-AU" sz="1800" dirty="0"/>
              <a:t> activation)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 err="1"/>
              <a:t>BatchNormalization</a:t>
            </a:r>
            <a:endParaRPr lang="en-AU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Dropout (0.5)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Output Layer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Dense (1 unit, Sigmoid activation for binary classification)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b="1" dirty="0"/>
              <a:t>Optimization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Adam Optimizer and Binary </a:t>
            </a:r>
            <a:r>
              <a:rPr lang="en-AU" sz="1800" dirty="0" err="1"/>
              <a:t>Crossentropy</a:t>
            </a:r>
            <a:r>
              <a:rPr lang="en-AU" sz="1800" dirty="0"/>
              <a:t> loss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437250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Image Data Overview: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dataset already available consists of full person images who is </a:t>
            </a:r>
            <a:r>
              <a:rPr lang="en-US" sz="2400" b="1" dirty="0"/>
              <a:t>yawning or not yawning </a:t>
            </a:r>
            <a:r>
              <a:rPr lang="en-US" sz="2400" dirty="0"/>
              <a:t>and eyes that are </a:t>
            </a:r>
            <a:r>
              <a:rPr lang="en-US" sz="2400" b="1" dirty="0"/>
              <a:t>open or closed.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Four distinct classes : </a:t>
            </a:r>
            <a:r>
              <a:rPr lang="en-US" sz="2400" b="1" dirty="0"/>
              <a:t>yawn, </a:t>
            </a:r>
            <a:r>
              <a:rPr lang="en-US" sz="2400" b="1" dirty="0" err="1"/>
              <a:t>no_yawn</a:t>
            </a:r>
            <a:r>
              <a:rPr lang="en-US" sz="2400" b="1" dirty="0"/>
              <a:t>, open</a:t>
            </a:r>
            <a:r>
              <a:rPr lang="en-US" sz="2400" dirty="0"/>
              <a:t> and </a:t>
            </a:r>
            <a:r>
              <a:rPr lang="en-US" sz="2400" b="1" dirty="0"/>
              <a:t>closed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Collected from an online repository on </a:t>
            </a:r>
            <a:r>
              <a:rPr lang="en-US" sz="2400" dirty="0" err="1">
                <a:hlinkClick r:id="rId2"/>
              </a:rPr>
              <a:t>kaggle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Training data having </a:t>
            </a:r>
            <a:r>
              <a:rPr lang="en-US" sz="2400" b="1" dirty="0"/>
              <a:t>617 images</a:t>
            </a:r>
            <a:r>
              <a:rPr lang="en-US" sz="2400" dirty="0"/>
              <a:t> from each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Testing data containing: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/>
              <a:t>109 images </a:t>
            </a:r>
            <a:r>
              <a:rPr lang="en-US" sz="2200" dirty="0"/>
              <a:t> from closed and open classes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/>
              <a:t>109 images </a:t>
            </a:r>
            <a:r>
              <a:rPr lang="en-US" sz="2200" dirty="0"/>
              <a:t> from </a:t>
            </a:r>
            <a:r>
              <a:rPr lang="en-US" sz="2200" dirty="0" err="1"/>
              <a:t>no_yawn</a:t>
            </a:r>
            <a:r>
              <a:rPr lang="en-US" sz="2200" dirty="0"/>
              <a:t> and </a:t>
            </a:r>
            <a:r>
              <a:rPr lang="en-US" sz="2200" b="1" dirty="0"/>
              <a:t>106</a:t>
            </a:r>
            <a:r>
              <a:rPr lang="en-US" sz="2200" dirty="0"/>
              <a:t> </a:t>
            </a:r>
            <a:r>
              <a:rPr lang="en-US" sz="2200" b="1" dirty="0"/>
              <a:t>images </a:t>
            </a:r>
            <a:r>
              <a:rPr lang="en-US" sz="2200" dirty="0"/>
              <a:t>from yawn class</a:t>
            </a:r>
            <a:endParaRPr lang="en-US" sz="2200" b="1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91783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F9716-A4AE-5105-2F5F-1F0E709D61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5FE76-ABBF-5221-8640-F9E3AB62F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44" y="1099015"/>
            <a:ext cx="1797538" cy="1601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DB218-1D47-27B4-E917-BDD7CCEF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154" y="1099015"/>
            <a:ext cx="1922584" cy="1531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5A495-8F01-1ADE-732D-0220A7619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044" y="3810947"/>
            <a:ext cx="2555631" cy="19167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C0A88C-874E-602F-49AB-FD36B03C0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060" y="3752332"/>
            <a:ext cx="2633785" cy="19753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E080AB-9761-8D61-A90C-864A9530F58C}"/>
              </a:ext>
            </a:extLst>
          </p:cNvPr>
          <p:cNvSpPr txBox="1"/>
          <p:nvPr/>
        </p:nvSpPr>
        <p:spPr>
          <a:xfrm>
            <a:off x="8594703" y="5922573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yawn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9364E4-598C-A771-8374-3501CE127A8F}"/>
              </a:ext>
            </a:extLst>
          </p:cNvPr>
          <p:cNvSpPr txBox="1"/>
          <p:nvPr/>
        </p:nvSpPr>
        <p:spPr>
          <a:xfrm>
            <a:off x="8014677" y="715107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 eye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C75DE4-7565-2B54-8C8B-5C5E192B7C31}"/>
              </a:ext>
            </a:extLst>
          </p:cNvPr>
          <p:cNvSpPr txBox="1"/>
          <p:nvPr/>
        </p:nvSpPr>
        <p:spPr>
          <a:xfrm>
            <a:off x="2500923" y="5922573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no_yawn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BA2BD-DB43-68BD-35A8-24347E10A70C}"/>
              </a:ext>
            </a:extLst>
          </p:cNvPr>
          <p:cNvSpPr txBox="1"/>
          <p:nvPr/>
        </p:nvSpPr>
        <p:spPr>
          <a:xfrm>
            <a:off x="2235133" y="712635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eye</a:t>
            </a:r>
          </a:p>
        </p:txBody>
      </p:sp>
    </p:spTree>
    <p:extLst>
      <p:ext uri="{BB962C8B-B14F-4D97-AF65-F5344CB8AC3E}">
        <p14:creationId xmlns:p14="http://schemas.microsoft.com/office/powerpoint/2010/main" val="1247011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Preprocessing: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 fontScale="92500" lnSpcReduction="10000"/>
          </a:bodyPr>
          <a:lstStyle/>
          <a:p>
            <a:r>
              <a:rPr lang="en-AU" sz="2400" b="1" dirty="0"/>
              <a:t>Train-Test Split</a:t>
            </a:r>
            <a:r>
              <a:rPr lang="en-AU" sz="2400" dirty="0"/>
              <a:t> of 80% and 20%</a:t>
            </a:r>
          </a:p>
          <a:p>
            <a:r>
              <a:rPr lang="en-AU" sz="2400" b="1" dirty="0"/>
              <a:t>20%</a:t>
            </a:r>
            <a:r>
              <a:rPr lang="en-AU" sz="2400" dirty="0"/>
              <a:t> of Training data is reserved for </a:t>
            </a:r>
            <a:r>
              <a:rPr lang="en-AU" sz="2400" b="1" dirty="0"/>
              <a:t>Validation</a:t>
            </a:r>
          </a:p>
          <a:p>
            <a:r>
              <a:rPr lang="en-AU" sz="2400" b="1" dirty="0"/>
              <a:t>Image resizing </a:t>
            </a:r>
            <a:r>
              <a:rPr lang="en-AU" sz="2400" dirty="0"/>
              <a:t> to </a:t>
            </a:r>
            <a:r>
              <a:rPr lang="en-AU" sz="2400" b="1" dirty="0"/>
              <a:t>224x244</a:t>
            </a:r>
          </a:p>
          <a:p>
            <a:r>
              <a:rPr lang="en-AU" sz="2400" b="1" dirty="0"/>
              <a:t>Data Augmentation:</a:t>
            </a:r>
          </a:p>
          <a:p>
            <a:pPr lvl="1"/>
            <a:r>
              <a:rPr lang="en-AU" sz="2200" b="1" dirty="0"/>
              <a:t>Rotation </a:t>
            </a:r>
            <a:r>
              <a:rPr lang="en-AU" sz="2200" dirty="0"/>
              <a:t>of up to 20 degrees applied</a:t>
            </a:r>
          </a:p>
          <a:p>
            <a:pPr lvl="1"/>
            <a:r>
              <a:rPr lang="en-AU" sz="2200" b="1" dirty="0"/>
              <a:t>Width &amp; Height </a:t>
            </a:r>
            <a:r>
              <a:rPr lang="en-AU" sz="2200" dirty="0"/>
              <a:t>shift randomly by 20%</a:t>
            </a:r>
          </a:p>
          <a:p>
            <a:pPr lvl="1"/>
            <a:r>
              <a:rPr lang="en-AU" sz="2200" b="1" dirty="0"/>
              <a:t>Shear Transformation </a:t>
            </a:r>
            <a:r>
              <a:rPr lang="en-AU" sz="2200" dirty="0"/>
              <a:t>by up to 20%</a:t>
            </a:r>
          </a:p>
          <a:p>
            <a:pPr lvl="1"/>
            <a:r>
              <a:rPr lang="en-AU" sz="2200" b="1" dirty="0"/>
              <a:t>Zooming </a:t>
            </a:r>
            <a:r>
              <a:rPr lang="en-AU" sz="2200" dirty="0"/>
              <a:t>in or out by 20%</a:t>
            </a:r>
          </a:p>
          <a:p>
            <a:pPr lvl="1"/>
            <a:r>
              <a:rPr lang="en-AU" sz="2200" b="1" dirty="0"/>
              <a:t>Horizontal Flipping</a:t>
            </a:r>
          </a:p>
          <a:p>
            <a:pPr lvl="1"/>
            <a:r>
              <a:rPr lang="en-AU" sz="2200" b="1" dirty="0"/>
              <a:t>Brightness adjustment</a:t>
            </a:r>
            <a:r>
              <a:rPr lang="en-AU" sz="2200" dirty="0"/>
              <a:t> between 20% and 100%</a:t>
            </a:r>
          </a:p>
          <a:p>
            <a:pPr lvl="1"/>
            <a:r>
              <a:rPr lang="en-AU" sz="2200" b="1" dirty="0"/>
              <a:t>Filling </a:t>
            </a:r>
            <a:r>
              <a:rPr lang="en-AU" sz="2200" dirty="0"/>
              <a:t>missing areas of image by nearest neighbouring pixels</a:t>
            </a:r>
          </a:p>
          <a:p>
            <a:pPr lvl="1"/>
            <a:r>
              <a:rPr lang="en-AU" sz="2200" b="1" dirty="0"/>
              <a:t>Image Rescaling</a:t>
            </a:r>
            <a:r>
              <a:rPr lang="en-AU" sz="2200" dirty="0"/>
              <a:t> to normalize them to a range of [0,1]</a:t>
            </a:r>
          </a:p>
          <a:p>
            <a:pPr marL="571500" lvl="1" indent="0">
              <a:buNone/>
            </a:pP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162194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Accuracy: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r>
              <a:rPr lang="en-AU" sz="2400" b="1" dirty="0" err="1"/>
              <a:t>MobileNet</a:t>
            </a:r>
            <a:r>
              <a:rPr lang="en-AU" sz="2400" b="1" dirty="0"/>
              <a:t>:</a:t>
            </a:r>
          </a:p>
          <a:p>
            <a:pPr lvl="1"/>
            <a:r>
              <a:rPr lang="en-AU" sz="2000" b="1" dirty="0"/>
              <a:t>Eye state: 98% accuracy</a:t>
            </a:r>
          </a:p>
          <a:p>
            <a:pPr lvl="1"/>
            <a:r>
              <a:rPr lang="en-AU" sz="2000" b="1" dirty="0"/>
              <a:t>Yawning: 75% accuracy</a:t>
            </a:r>
          </a:p>
          <a:p>
            <a:r>
              <a:rPr lang="en-AU" sz="2400" b="1" dirty="0"/>
              <a:t>Custom CNN:</a:t>
            </a:r>
          </a:p>
          <a:p>
            <a:pPr lvl="1"/>
            <a:r>
              <a:rPr lang="en-AU" sz="2000" b="1" dirty="0"/>
              <a:t>Eye state: 55% accuracy</a:t>
            </a:r>
          </a:p>
          <a:p>
            <a:pPr lvl="1"/>
            <a:r>
              <a:rPr lang="en-AU" sz="2000" b="1" dirty="0"/>
              <a:t>Yawning: 83% accuracy</a:t>
            </a:r>
          </a:p>
          <a:p>
            <a:pPr lvl="1"/>
            <a:endParaRPr lang="en-AU" sz="2000" b="1" dirty="0"/>
          </a:p>
          <a:p>
            <a:pPr marL="571500" lvl="1" indent="0">
              <a:buNone/>
            </a:pPr>
            <a:endParaRPr lang="en-AU" sz="2000" dirty="0"/>
          </a:p>
          <a:p>
            <a:pPr marL="571500" lvl="1" indent="0">
              <a:buNone/>
            </a:pP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1974107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EC85-2758-C7FA-DB12-0AD0C2B0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22858"/>
            <a:ext cx="9692640" cy="1325562"/>
          </a:xfrm>
        </p:spPr>
        <p:txBody>
          <a:bodyPr/>
          <a:lstStyle/>
          <a:p>
            <a:r>
              <a:rPr lang="en-AU" dirty="0"/>
              <a:t>Models Used (Sensors):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5C492-0778-F705-71D4-6D8C285E2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9B52C1-657F-3528-F529-7A882E5AE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838" y="2811877"/>
            <a:ext cx="898903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(192 neurons), input shape (6,)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Layers: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Dense layers: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Layer: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320 neurons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Second Layer: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128 neurons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Third Layer: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 neurons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Dropout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Dropout (0.2)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Dense (3 neurons,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Adam, learning rate 0.001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4C357-324A-D0A3-AF81-596B36626E1B}"/>
              </a:ext>
            </a:extLst>
          </p:cNvPr>
          <p:cNvSpPr txBox="1"/>
          <p:nvPr/>
        </p:nvSpPr>
        <p:spPr>
          <a:xfrm>
            <a:off x="881948" y="2008277"/>
            <a:ext cx="6795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Century Schoolbook" panose="02040604050505020304" pitchFamily="18" charset="0"/>
              </a:rPr>
              <a:t>Dense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46422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8ECB-E0C2-C377-DCF7-BF0F4FFD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7047B-EE83-182F-AD47-2990B0C8A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082" y="1938673"/>
            <a:ext cx="8595360" cy="4351337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AU" sz="2400" b="1" dirty="0"/>
              <a:t>Random Forest Classifier:</a:t>
            </a:r>
          </a:p>
          <a:p>
            <a:pPr marL="137160" indent="0">
              <a:buNone/>
            </a:pPr>
            <a:endParaRPr lang="en-AU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3DEA6B-3973-491F-2A6F-ED46C5D36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92" y="2683181"/>
            <a:ext cx="88649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Number of Trees:  20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Maximum depth: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10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Minimum Samples to Split:  6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Minimum Samples per Leaf:  4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Maximum Features:  'auto’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Bootstrap Sampling:  True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Hyperparameter tuning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RandomizedSearchCV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with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   a 5-fold cross-validation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Optimized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using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RandomizedSearchCV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to find the best parameters </a:t>
            </a:r>
          </a:p>
        </p:txBody>
      </p:sp>
    </p:spTree>
    <p:extLst>
      <p:ext uri="{BB962C8B-B14F-4D97-AF65-F5344CB8AC3E}">
        <p14:creationId xmlns:p14="http://schemas.microsoft.com/office/powerpoint/2010/main" val="1919784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76A3-1C13-C034-C325-CD605EF1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EB730-17AA-5109-ECDD-2329BDF31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5929" y="2013857"/>
            <a:ext cx="8595360" cy="4351337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AU" sz="2800" b="1" dirty="0"/>
              <a:t>LSTM</a:t>
            </a:r>
            <a:r>
              <a:rPr lang="en-AU" sz="2800" dirty="0"/>
              <a:t>:</a:t>
            </a:r>
          </a:p>
          <a:p>
            <a:pPr marL="137160" indent="0">
              <a:buNone/>
            </a:pPr>
            <a:endParaRPr lang="en-AU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1AF16B-EF33-33CC-F306-5BFBC9033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999" y="2573307"/>
            <a:ext cx="88200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Input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LSTM (Units: 256, Input Shape: (TIMESTEPS, FEATURES))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Hidden Layers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LSTM (Units: 128, Dropout: 0.2, Return Sequences: True)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LSTM (Units: 64, Dropout: 0.3, Return Sequences: True)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LSTM (Units: 32, Dropout: 0.1, Return Sequences: False)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Dropout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Dropout Rate: 0.2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Dense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Units: 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Output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Dense (Units: 2, Activation: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2587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DB1D7-0E17-3E01-B987-2BCD4299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86" y="108858"/>
            <a:ext cx="8595360" cy="4351337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AU" sz="2800" b="1" dirty="0"/>
              <a:t>CNN-LSTM:</a:t>
            </a:r>
          </a:p>
          <a:p>
            <a:pPr marL="137160" indent="0">
              <a:buNone/>
            </a:pPr>
            <a:endParaRPr lang="en-AU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2AEB82-C728-5F84-1B8C-ABAD5D40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392" y="809054"/>
            <a:ext cx="8438529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AU" sz="2000" b="1" dirty="0"/>
              <a:t>Input Layer: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dirty="0" err="1"/>
              <a:t>TimeDistributed</a:t>
            </a:r>
            <a:r>
              <a:rPr lang="en-AU" sz="2000" dirty="0"/>
              <a:t> Conv1D (Filters: 32, Kernel Size: 3, Activation: </a:t>
            </a:r>
            <a:r>
              <a:rPr lang="en-AU" sz="2000" dirty="0" err="1"/>
              <a:t>ReLU</a:t>
            </a:r>
            <a:r>
              <a:rPr lang="en-AU" sz="2000" dirty="0"/>
              <a:t>)</a:t>
            </a:r>
          </a:p>
          <a:p>
            <a:r>
              <a:rPr lang="en-AU" sz="2000" b="1" dirty="0"/>
              <a:t>Convolutional Layers: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dirty="0" err="1"/>
              <a:t>TimeDistributed</a:t>
            </a:r>
            <a:r>
              <a:rPr lang="en-AU" sz="2000" dirty="0"/>
              <a:t> Conv1D (Filters: 64, Kernel Size: 3, Activation: </a:t>
            </a:r>
            <a:r>
              <a:rPr lang="en-AU" sz="2000" dirty="0" err="1"/>
              <a:t>ReLU</a:t>
            </a:r>
            <a:r>
              <a:rPr lang="en-AU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dirty="0" err="1"/>
              <a:t>TimeDistributed</a:t>
            </a:r>
            <a:r>
              <a:rPr lang="en-AU" sz="2000" dirty="0"/>
              <a:t> Conv1D (Filters: 128, Kernel Size: 3, Activation: </a:t>
            </a:r>
            <a:r>
              <a:rPr lang="en-AU" sz="2000" dirty="0" err="1"/>
              <a:t>ReLU</a:t>
            </a:r>
            <a:r>
              <a:rPr lang="en-AU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Dropout (Rate: 0.3)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dirty="0" err="1"/>
              <a:t>TimeDistributed</a:t>
            </a:r>
            <a:r>
              <a:rPr lang="en-AU" sz="2000" dirty="0"/>
              <a:t> MaxPooling1D (Pool Size: 2)</a:t>
            </a:r>
          </a:p>
          <a:p>
            <a:r>
              <a:rPr lang="en-AU" sz="2000" b="1" dirty="0"/>
              <a:t>Flatten Layer: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</a:t>
            </a:r>
            <a:r>
              <a:rPr lang="en-AU" sz="2000" dirty="0" err="1"/>
              <a:t>TimeDistributed</a:t>
            </a:r>
            <a:r>
              <a:rPr lang="en-AU" sz="2000" dirty="0"/>
              <a:t> Flatten</a:t>
            </a:r>
          </a:p>
          <a:p>
            <a:r>
              <a:rPr lang="en-AU" sz="2000" b="1" dirty="0"/>
              <a:t>LSTM Layers: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LSTM (Units: 64, Dropout: 0.2, Return Sequences: True)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LSTM (Units: 32, Dropout: 0.2, Return Sequences: True)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LSTM (Units: 16, Dropout: 0.1, Return Sequences: False)</a:t>
            </a:r>
          </a:p>
          <a:p>
            <a:r>
              <a:rPr lang="en-AU" sz="2000" b="1" dirty="0"/>
              <a:t>Dropout Layer: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Dropout (Rate: 0.2)</a:t>
            </a:r>
          </a:p>
          <a:p>
            <a:r>
              <a:rPr lang="en-AU" sz="2000" b="1" dirty="0"/>
              <a:t>Dense Layer: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Dense (Units: 64, Activation: </a:t>
            </a:r>
            <a:r>
              <a:rPr lang="en-AU" sz="2000" dirty="0" err="1"/>
              <a:t>ReLU</a:t>
            </a:r>
            <a:r>
              <a:rPr lang="en-AU" sz="2000" dirty="0"/>
              <a:t>)</a:t>
            </a:r>
          </a:p>
          <a:p>
            <a:r>
              <a:rPr lang="en-AU" sz="2000" b="1" dirty="0"/>
              <a:t>Output Layer:</a:t>
            </a:r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 Dense (Units: 2, Activation: </a:t>
            </a:r>
            <a:r>
              <a:rPr lang="en-AU" sz="2000" dirty="0" err="1"/>
              <a:t>Softmax</a:t>
            </a:r>
            <a:r>
              <a:rPr lang="en-AU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8979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D448-4EEE-5381-FC7F-786FC5AE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73CDE-F86C-C677-F0D0-815156D65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AU" sz="2800" b="1" dirty="0"/>
              <a:t>ConvLSTM2D:</a:t>
            </a:r>
          </a:p>
          <a:p>
            <a:endParaRPr lang="en-AU" sz="2800" b="1" dirty="0"/>
          </a:p>
          <a:p>
            <a:endParaRPr lang="en-AU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A5312F-AAD6-E75E-D936-301871807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623" y="2795910"/>
            <a:ext cx="73828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ConvLSTM2D (Filters: 32, Kernel Size: (1,3)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Input Shape: (4, 1, 10, 6))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Dropout: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Flatten: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128 Units, Activation: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Dense (2 Units,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 (LR: 0.001)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Binary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Crossentropy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9508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8B3A-2369-AFD2-63FA-451419BB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0" y="15082"/>
            <a:ext cx="9692640" cy="1325562"/>
          </a:xfrm>
        </p:spPr>
        <p:txBody>
          <a:bodyPr/>
          <a:lstStyle/>
          <a:p>
            <a:r>
              <a:rPr lang="en-AU" dirty="0"/>
              <a:t>Sensor Data Overview: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E8CFC-50E6-3D59-11F0-BBCCA805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" r="16277"/>
          <a:stretch/>
        </p:blipFill>
        <p:spPr>
          <a:xfrm>
            <a:off x="0" y="1741715"/>
            <a:ext cx="11249895" cy="49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48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Sensor Data Overview: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Dataset, collected from a recent research paper available at </a:t>
            </a:r>
            <a:r>
              <a:rPr lang="en-US" sz="2400" dirty="0">
                <a:hlinkClick r:id="rId2"/>
              </a:rPr>
              <a:t>this link</a:t>
            </a:r>
            <a:r>
              <a:rPr lang="en-US" sz="2400" dirty="0"/>
              <a:t> having accelerometer (</a:t>
            </a:r>
            <a:r>
              <a:rPr lang="en-US" sz="2400" dirty="0" err="1"/>
              <a:t>AccX</a:t>
            </a:r>
            <a:r>
              <a:rPr lang="en-US" sz="2400" dirty="0"/>
              <a:t>, </a:t>
            </a:r>
            <a:r>
              <a:rPr lang="en-US" sz="2400" dirty="0" err="1"/>
              <a:t>AccY</a:t>
            </a:r>
            <a:r>
              <a:rPr lang="en-US" sz="2400" dirty="0"/>
              <a:t>, </a:t>
            </a:r>
            <a:r>
              <a:rPr lang="en-US" sz="2400" dirty="0" err="1"/>
              <a:t>AccZ</a:t>
            </a:r>
            <a:r>
              <a:rPr lang="en-US" sz="2400" dirty="0"/>
              <a:t>) and gyroscope (</a:t>
            </a:r>
            <a:r>
              <a:rPr lang="en-US" sz="2400" dirty="0" err="1"/>
              <a:t>GyroX</a:t>
            </a:r>
            <a:r>
              <a:rPr lang="en-US" sz="2400" dirty="0"/>
              <a:t>, </a:t>
            </a:r>
            <a:r>
              <a:rPr lang="en-US" sz="2400" dirty="0" err="1"/>
              <a:t>GyroY</a:t>
            </a:r>
            <a:r>
              <a:rPr lang="en-US" sz="2400" dirty="0"/>
              <a:t>, </a:t>
            </a:r>
            <a:r>
              <a:rPr lang="en-US" sz="2400" dirty="0" err="1"/>
              <a:t>GyroZ</a:t>
            </a:r>
            <a:r>
              <a:rPr lang="en-US" sz="2400" dirty="0"/>
              <a:t>) sensors to monitor driver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Three distinct driving behavior classes: </a:t>
            </a:r>
            <a:r>
              <a:rPr lang="en-US" sz="2400" b="1" dirty="0"/>
              <a:t>Normal</a:t>
            </a:r>
            <a:r>
              <a:rPr lang="en-US" sz="2400" dirty="0"/>
              <a:t>, </a:t>
            </a:r>
            <a:r>
              <a:rPr lang="en-US" sz="2400" b="1" dirty="0"/>
              <a:t>Slow</a:t>
            </a:r>
            <a:r>
              <a:rPr lang="en-US" sz="2400" dirty="0"/>
              <a:t>, and </a:t>
            </a:r>
            <a:r>
              <a:rPr lang="en-US" sz="2400" b="1" dirty="0"/>
              <a:t>Aggressive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Time series data labeled by class to analyze sequential driving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Noise present at the start and end of sequences due to transitions between classes was filtered out to improve data quality.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28588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C3F8-B1C1-3338-37A2-DCE55CD5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18803"/>
            <a:ext cx="9692640" cy="1325562"/>
          </a:xfrm>
        </p:spPr>
        <p:txBody>
          <a:bodyPr/>
          <a:lstStyle/>
          <a:p>
            <a:r>
              <a:rPr lang="en-AU" dirty="0"/>
              <a:t>Data Representation and Preprocessing: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4AFC0-338B-589A-59E7-F67BB3262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542" y="1740309"/>
            <a:ext cx="9954987" cy="4508091"/>
          </a:xfrm>
        </p:spPr>
        <p:txBody>
          <a:bodyPr>
            <a:normAutofit/>
          </a:bodyPr>
          <a:lstStyle/>
          <a:p>
            <a:r>
              <a:rPr lang="en-US" sz="2400" dirty="0"/>
              <a:t>Sensor data, with six features in total, was standardized using </a:t>
            </a:r>
            <a:r>
              <a:rPr lang="en-US" sz="2400" b="1" dirty="0" err="1"/>
              <a:t>StandardScaler</a:t>
            </a:r>
            <a:r>
              <a:rPr lang="en-US" sz="2400" dirty="0"/>
              <a:t> to normalize the range of values.</a:t>
            </a:r>
          </a:p>
          <a:p>
            <a:r>
              <a:rPr lang="en-US" sz="2400" dirty="0"/>
              <a:t>Data reshaping was applied where needed to fit specific model input requirements (e.g., reshaped </a:t>
            </a:r>
            <a:r>
              <a:rPr lang="en-US" sz="2400"/>
              <a:t>into </a:t>
            </a:r>
            <a:r>
              <a:rPr lang="en-US" sz="2400" dirty="0"/>
              <a:t>5</a:t>
            </a:r>
            <a:r>
              <a:rPr lang="en-US" sz="2400"/>
              <a:t>D </a:t>
            </a:r>
            <a:r>
              <a:rPr lang="en-US" sz="2400" dirty="0"/>
              <a:t>arrays for ConvLSTM2D).</a:t>
            </a:r>
          </a:p>
          <a:p>
            <a:r>
              <a:rPr lang="en-US" sz="2400" dirty="0"/>
              <a:t>Class labels were converted into categorical binary format for efficient model training.</a:t>
            </a:r>
          </a:p>
          <a:p>
            <a:r>
              <a:rPr lang="en-US" sz="2400" dirty="0"/>
              <a:t>To ensure balance between classes and avoid bias, excess samples from overrepresented classes were removed.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0106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9B88-9577-DA04-B447-74F4343E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301" y="15082"/>
            <a:ext cx="9692640" cy="1325562"/>
          </a:xfrm>
        </p:spPr>
        <p:txBody>
          <a:bodyPr/>
          <a:lstStyle/>
          <a:p>
            <a:r>
              <a:rPr lang="en-AU" dirty="0"/>
              <a:t>Models Accuracy and Testing: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5F742-A2B4-7E22-6918-73619578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372" y="1611086"/>
            <a:ext cx="10363199" cy="4245428"/>
          </a:xfrm>
        </p:spPr>
        <p:txBody>
          <a:bodyPr>
            <a:noAutofit/>
          </a:bodyPr>
          <a:lstStyle/>
          <a:p>
            <a:r>
              <a:rPr lang="en-US" sz="2400" dirty="0"/>
              <a:t>We evaluated multiple algorithms such as </a:t>
            </a:r>
            <a:r>
              <a:rPr lang="en-US" sz="2400" dirty="0" err="1"/>
              <a:t>XGBoost</a:t>
            </a:r>
            <a:r>
              <a:rPr lang="en-US" sz="2400" dirty="0"/>
              <a:t>, Dense Neural Networks (NN), Random Forest, and others to identify the most accurate model.</a:t>
            </a:r>
          </a:p>
          <a:p>
            <a:r>
              <a:rPr lang="en-US" sz="2400" dirty="0"/>
              <a:t>We compared the performance of models for both the 3-class classification (Normal, Slow, Aggressive) and 2-class classification (Normal, Aggressive). The aim was to assess model accuracy in different scenarios.</a:t>
            </a:r>
          </a:p>
          <a:p>
            <a:r>
              <a:rPr lang="en-US" sz="2400" dirty="0"/>
              <a:t>Overall the model Performed better in 2-class scenario with ConvLSTM2D achieving the highest accuracy at 84%.</a:t>
            </a:r>
          </a:p>
          <a:p>
            <a:r>
              <a:rPr lang="en-US" sz="2400" dirty="0"/>
              <a:t>Comparison Graphs on Next slide.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6774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04402-A6CE-88E7-E474-5A2D17B4F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91731-0FE2-A385-DF61-DCA6A6608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63954"/>
            <a:ext cx="1129665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11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633B8-28D7-4230-EBC1-F62A102501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4E1E0-F2D5-0624-0FE3-C17534FF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47625"/>
            <a:ext cx="1129665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03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0141-D981-BC5B-BC59-776B2B8A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15" y="15082"/>
            <a:ext cx="9692640" cy="1325562"/>
          </a:xfrm>
        </p:spPr>
        <p:txBody>
          <a:bodyPr/>
          <a:lstStyle/>
          <a:p>
            <a:r>
              <a:rPr lang="en-AU" dirty="0"/>
              <a:t>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D28D-900F-F407-0702-27568FEA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587" y="1567542"/>
            <a:ext cx="9692640" cy="4441372"/>
          </a:xfrm>
        </p:spPr>
        <p:txBody>
          <a:bodyPr>
            <a:normAutofit/>
          </a:bodyPr>
          <a:lstStyle/>
          <a:p>
            <a:r>
              <a:rPr lang="en-AU" sz="2400" b="1" dirty="0"/>
              <a:t>Latency in decision making</a:t>
            </a:r>
          </a:p>
          <a:p>
            <a:r>
              <a:rPr lang="en-AU" sz="2400" b="1" dirty="0"/>
              <a:t>Battery consumption</a:t>
            </a:r>
          </a:p>
          <a:p>
            <a:r>
              <a:rPr lang="en-AU" sz="2400" b="1" dirty="0"/>
              <a:t>Low light conditions</a:t>
            </a:r>
          </a:p>
          <a:p>
            <a:r>
              <a:rPr lang="en-AU" sz="2400" b="1" dirty="0"/>
              <a:t>Dataset diversity</a:t>
            </a:r>
          </a:p>
          <a:p>
            <a:r>
              <a:rPr lang="en-AU" sz="2400" b="1" dirty="0"/>
              <a:t>Resource constraints</a:t>
            </a:r>
          </a:p>
          <a:p>
            <a:r>
              <a:rPr lang="en-AU" sz="2400" b="1" dirty="0"/>
              <a:t>Noisy Data</a:t>
            </a:r>
          </a:p>
          <a:p>
            <a:r>
              <a:rPr lang="en-AU" sz="2400" b="1" dirty="0"/>
              <a:t>Imbalanced Classes</a:t>
            </a:r>
          </a:p>
          <a:p>
            <a:r>
              <a:rPr lang="en-AU" sz="2400" b="1" dirty="0"/>
              <a:t>Missing Data</a:t>
            </a:r>
          </a:p>
          <a:p>
            <a:endParaRPr lang="en-AU" sz="2200" dirty="0"/>
          </a:p>
          <a:p>
            <a:pPr marL="571500" lvl="1" indent="0">
              <a:buNone/>
            </a:pP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424798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C5FC6B-4869-AD6D-D99A-FC9E215BD8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868AE-31E8-DF1C-BB08-2B2B3342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350" y="92075"/>
            <a:ext cx="4960594" cy="6765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E6F182-0D15-3DB9-C3DE-7DF7BA244B8A}"/>
              </a:ext>
            </a:extLst>
          </p:cNvPr>
          <p:cNvSpPr txBox="1"/>
          <p:nvPr/>
        </p:nvSpPr>
        <p:spPr>
          <a:xfrm>
            <a:off x="463579" y="0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lang="en-US" sz="3600" dirty="0"/>
              <a:t>Poster</a:t>
            </a:r>
          </a:p>
        </p:txBody>
      </p:sp>
    </p:spTree>
    <p:extLst>
      <p:ext uri="{BB962C8B-B14F-4D97-AF65-F5344CB8AC3E}">
        <p14:creationId xmlns:p14="http://schemas.microsoft.com/office/powerpoint/2010/main" val="1289315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924386-9FEE-D92E-29B8-9FB1C7B41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031F6B-6F62-7A68-4076-84CC64A35E77}"/>
              </a:ext>
            </a:extLst>
          </p:cNvPr>
          <p:cNvSpPr txBox="1"/>
          <p:nvPr/>
        </p:nvSpPr>
        <p:spPr>
          <a:xfrm>
            <a:off x="452693" y="10885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lang="en-US" sz="3600" dirty="0"/>
              <a:t>Objectives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4BC490-52DC-7E44-9BF4-94E417091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70" y="1176336"/>
            <a:ext cx="8833224" cy="47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390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F9FEA-5CB0-11AB-A544-20D55E4D5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112E1-88DF-2CC6-C2E0-7DDD27E5A61A}"/>
              </a:ext>
            </a:extLst>
          </p:cNvPr>
          <p:cNvSpPr txBox="1"/>
          <p:nvPr/>
        </p:nvSpPr>
        <p:spPr>
          <a:xfrm>
            <a:off x="572436" y="707571"/>
            <a:ext cx="6139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lang="en-US" sz="3600" dirty="0"/>
              <a:t>Working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B0D9F-01C9-8778-3B7D-BA76FB7DD9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03"/>
          <a:stretch/>
        </p:blipFill>
        <p:spPr>
          <a:xfrm>
            <a:off x="691242" y="2182586"/>
            <a:ext cx="9549127" cy="27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00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C1F7EC-3225-736C-FC6B-41CEF5A6A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1616-A3A8-2822-7ABD-6BA7636C847B}"/>
              </a:ext>
            </a:extLst>
          </p:cNvPr>
          <p:cNvSpPr txBox="1"/>
          <p:nvPr/>
        </p:nvSpPr>
        <p:spPr>
          <a:xfrm>
            <a:off x="496236" y="326572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lang="en-US" sz="3600" dirty="0"/>
              <a:t>Timeline &amp; Tools Used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1B5F3-A555-F997-92B9-86DB55B50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86" y="1252536"/>
            <a:ext cx="8873472" cy="479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064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CD9A1A24-03FB-23A5-5A11-1D9958E8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>
            <a:extLst>
              <a:ext uri="{FF2B5EF4-FFF2-40B4-BE49-F238E27FC236}">
                <a16:creationId xmlns:a16="http://schemas.microsoft.com/office/drawing/2014/main" id="{0F31497D-FF59-5F3E-CC31-A3EA66395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4" name="Google Shape;114;p2">
            <a:extLst>
              <a:ext uri="{FF2B5EF4-FFF2-40B4-BE49-F238E27FC236}">
                <a16:creationId xmlns:a16="http://schemas.microsoft.com/office/drawing/2014/main" id="{12E30AFF-EC64-BB5B-2C65-E5B511B3951A}"/>
              </a:ext>
            </a:extLst>
          </p:cNvPr>
          <p:cNvSpPr txBox="1">
            <a:spLocks/>
          </p:cNvSpPr>
          <p:nvPr/>
        </p:nvSpPr>
        <p:spPr>
          <a:xfrm>
            <a:off x="1074654" y="518471"/>
            <a:ext cx="7824248" cy="72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Gantt Chart (Project Timeline)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C2DB22-2A85-AA84-E68D-648B3C32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429" y="1524596"/>
            <a:ext cx="6624311" cy="496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23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CD9A1A24-03FB-23A5-5A11-1D9958E8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>
            <a:extLst>
              <a:ext uri="{FF2B5EF4-FFF2-40B4-BE49-F238E27FC236}">
                <a16:creationId xmlns:a16="http://schemas.microsoft.com/office/drawing/2014/main" id="{0F31497D-FF59-5F3E-CC31-A3EA66395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4" name="Google Shape;114;p2">
            <a:extLst>
              <a:ext uri="{FF2B5EF4-FFF2-40B4-BE49-F238E27FC236}">
                <a16:creationId xmlns:a16="http://schemas.microsoft.com/office/drawing/2014/main" id="{12E30AFF-EC64-BB5B-2C65-E5B511B3951A}"/>
              </a:ext>
            </a:extLst>
          </p:cNvPr>
          <p:cNvSpPr txBox="1">
            <a:spLocks/>
          </p:cNvSpPr>
          <p:nvPr/>
        </p:nvSpPr>
        <p:spPr>
          <a:xfrm>
            <a:off x="1074654" y="518471"/>
            <a:ext cx="7824248" cy="72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Gantt Chart (Project Timeline)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7BE07-AF7A-04D0-175D-9C2EBF3A2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4" r="1149" b="11350"/>
          <a:stretch/>
        </p:blipFill>
        <p:spPr>
          <a:xfrm>
            <a:off x="1390789" y="1523999"/>
            <a:ext cx="8055429" cy="503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8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Accurate real-time detection of driver drowsiness.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Effective alarm generation to prevent potential accidents.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entury Schoolbook" panose="02040604050505020304" pitchFamily="18" charset="0"/>
              </a:rPr>
              <a:t>User-friendly mobile application with responsive alert system.</a:t>
            </a:r>
          </a:p>
        </p:txBody>
      </p:sp>
      <p:sp>
        <p:nvSpPr>
          <p:cNvPr id="169" name="Google Shape;169;p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4A811DF6-6F52-CB6F-19A1-7C09975F1A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4;p2">
            <a:extLst>
              <a:ext uri="{FF2B5EF4-FFF2-40B4-BE49-F238E27FC236}">
                <a16:creationId xmlns:a16="http://schemas.microsoft.com/office/drawing/2014/main" id="{66A3CDA3-1331-56B5-616F-F5B0AAEA9414}"/>
              </a:ext>
            </a:extLst>
          </p:cNvPr>
          <p:cNvSpPr txBox="1">
            <a:spLocks/>
          </p:cNvSpPr>
          <p:nvPr/>
        </p:nvSpPr>
        <p:spPr>
          <a:xfrm>
            <a:off x="1261872" y="419099"/>
            <a:ext cx="469586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Expected Result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20B17D-E987-3592-6596-8B92A9FBFB42}"/>
              </a:ext>
            </a:extLst>
          </p:cNvPr>
          <p:cNvSpPr/>
          <p:nvPr/>
        </p:nvSpPr>
        <p:spPr>
          <a:xfrm>
            <a:off x="6096000" y="1885361"/>
            <a:ext cx="4642802" cy="4543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EB074-45B3-D933-D46D-38D16CFF987B}"/>
              </a:ext>
            </a:extLst>
          </p:cNvPr>
          <p:cNvSpPr/>
          <p:nvPr/>
        </p:nvSpPr>
        <p:spPr>
          <a:xfrm>
            <a:off x="709816" y="1885361"/>
            <a:ext cx="4773677" cy="45342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Google Shape;176;p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2" name="Google Shape;180;p11">
            <a:extLst>
              <a:ext uri="{FF2B5EF4-FFF2-40B4-BE49-F238E27FC236}">
                <a16:creationId xmlns:a16="http://schemas.microsoft.com/office/drawing/2014/main" id="{C265AA8C-0231-0781-DC68-5009AB2C8B50}"/>
              </a:ext>
            </a:extLst>
          </p:cNvPr>
          <p:cNvSpPr txBox="1">
            <a:spLocks/>
          </p:cNvSpPr>
          <p:nvPr/>
        </p:nvSpPr>
        <p:spPr>
          <a:xfrm>
            <a:off x="794657" y="1873634"/>
            <a:ext cx="44805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indent="0" algn="ctr">
              <a:spcBef>
                <a:spcPts val="0"/>
              </a:spcBef>
              <a:buSzPts val="1600"/>
              <a:buFont typeface="Arial"/>
              <a:buNone/>
            </a:pPr>
            <a:r>
              <a:rPr lang="en-US" sz="2400" dirty="0"/>
              <a:t>Saad Rahman</a:t>
            </a:r>
          </a:p>
        </p:txBody>
      </p:sp>
      <p:sp>
        <p:nvSpPr>
          <p:cNvPr id="3" name="Google Shape;182;p11">
            <a:extLst>
              <a:ext uri="{FF2B5EF4-FFF2-40B4-BE49-F238E27FC236}">
                <a16:creationId xmlns:a16="http://schemas.microsoft.com/office/drawing/2014/main" id="{6D5FF5DA-78DD-2F1F-BFAD-DB95ED594FC6}"/>
              </a:ext>
            </a:extLst>
          </p:cNvPr>
          <p:cNvSpPr txBox="1">
            <a:spLocks/>
          </p:cNvSpPr>
          <p:nvPr/>
        </p:nvSpPr>
        <p:spPr>
          <a:xfrm>
            <a:off x="794660" y="2591783"/>
            <a:ext cx="4480497" cy="357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Architecture and Use Case Diagram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Literature Review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Documentation</a:t>
            </a:r>
          </a:p>
          <a:p>
            <a:pPr marL="101600">
              <a:lnSpc>
                <a:spcPct val="95000"/>
              </a:lnSpc>
              <a:buClr>
                <a:srgbClr val="262626"/>
              </a:buClr>
              <a:buSzPts val="2000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Data collection and pre-processing.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Finding the appropriate deep learning architecture for image classification.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Model Training and Testing.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UI Design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Backend Development to integrate the Mobile Application to the server.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Model Integration.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Deployment.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Testing the server.</a:t>
            </a:r>
          </a:p>
        </p:txBody>
      </p:sp>
      <p:sp>
        <p:nvSpPr>
          <p:cNvPr id="4" name="Google Shape;180;p11">
            <a:extLst>
              <a:ext uri="{FF2B5EF4-FFF2-40B4-BE49-F238E27FC236}">
                <a16:creationId xmlns:a16="http://schemas.microsoft.com/office/drawing/2014/main" id="{922AF67D-9426-D400-D954-94782B3CEC44}"/>
              </a:ext>
            </a:extLst>
          </p:cNvPr>
          <p:cNvSpPr txBox="1">
            <a:spLocks/>
          </p:cNvSpPr>
          <p:nvPr/>
        </p:nvSpPr>
        <p:spPr>
          <a:xfrm>
            <a:off x="6162141" y="1854681"/>
            <a:ext cx="44805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indent="0" algn="ctr">
              <a:spcBef>
                <a:spcPts val="0"/>
              </a:spcBef>
              <a:buSzPts val="1600"/>
              <a:buFont typeface="Arial"/>
              <a:buNone/>
            </a:pPr>
            <a:r>
              <a:rPr lang="en-US" sz="2400" dirty="0"/>
              <a:t>Aimal Khan</a:t>
            </a:r>
          </a:p>
        </p:txBody>
      </p:sp>
      <p:sp>
        <p:nvSpPr>
          <p:cNvPr id="5" name="Google Shape;182;p11">
            <a:extLst>
              <a:ext uri="{FF2B5EF4-FFF2-40B4-BE49-F238E27FC236}">
                <a16:creationId xmlns:a16="http://schemas.microsoft.com/office/drawing/2014/main" id="{2D5EB39F-E5EF-4B47-E55C-8D53C2ADF65E}"/>
              </a:ext>
            </a:extLst>
          </p:cNvPr>
          <p:cNvSpPr txBox="1">
            <a:spLocks/>
          </p:cNvSpPr>
          <p:nvPr/>
        </p:nvSpPr>
        <p:spPr>
          <a:xfrm>
            <a:off x="6162138" y="2520291"/>
            <a:ext cx="4329896" cy="386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Analysis and Sequence Diagram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Literature Review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Documentation</a:t>
            </a:r>
          </a:p>
          <a:p>
            <a:pPr marL="101600">
              <a:lnSpc>
                <a:spcPct val="95000"/>
              </a:lnSpc>
              <a:buClr>
                <a:srgbClr val="262626"/>
              </a:buClr>
              <a:buSzPts val="2000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Data collection and pre-processing.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Finding the appropriate deep learning architecture for image classification.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Model Training and Testing.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UI Design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Mobile Application development for capturing real-time images.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Model Integration.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entury Schoolbook" panose="02040604050505020304" pitchFamily="18" charset="0"/>
              </a:rPr>
              <a:t>Deployment.</a:t>
            </a: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endParaRPr lang="en-US" sz="2000" dirty="0">
              <a:solidFill>
                <a:srgbClr val="262626"/>
              </a:solidFill>
              <a:latin typeface="Century Schoolbook" panose="02040604050505020304" pitchFamily="18" charset="0"/>
            </a:endParaRPr>
          </a:p>
          <a:p>
            <a:pPr marL="457200" indent="-355600">
              <a:lnSpc>
                <a:spcPct val="95000"/>
              </a:lnSpc>
              <a:buClr>
                <a:srgbClr val="262626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Testing the application.</a:t>
            </a:r>
          </a:p>
        </p:txBody>
      </p:sp>
      <p:pic>
        <p:nvPicPr>
          <p:cNvPr id="6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51C757FD-B9B9-C730-4C4B-BDBBD0A608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68729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4;p2">
            <a:extLst>
              <a:ext uri="{FF2B5EF4-FFF2-40B4-BE49-F238E27FC236}">
                <a16:creationId xmlns:a16="http://schemas.microsoft.com/office/drawing/2014/main" id="{68310FC8-EC3C-8F0F-33E1-E946E0A2A9B3}"/>
              </a:ext>
            </a:extLst>
          </p:cNvPr>
          <p:cNvSpPr txBox="1">
            <a:spLocks/>
          </p:cNvSpPr>
          <p:nvPr/>
        </p:nvSpPr>
        <p:spPr>
          <a:xfrm>
            <a:off x="1261872" y="419099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Team Work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9BB2DF58-2CF1-783E-5E62-AE4992A282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E069B715-54B1-623B-1537-C761F8654294}"/>
              </a:ext>
            </a:extLst>
          </p:cNvPr>
          <p:cNvSpPr txBox="1">
            <a:spLocks/>
          </p:cNvSpPr>
          <p:nvPr/>
        </p:nvSpPr>
        <p:spPr>
          <a:xfrm>
            <a:off x="597843" y="0"/>
            <a:ext cx="568756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A9F635-2E18-2611-8944-5AAF47043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811529"/>
              </p:ext>
            </p:extLst>
          </p:nvPr>
        </p:nvGraphicFramePr>
        <p:xfrm>
          <a:off x="741946" y="976948"/>
          <a:ext cx="8543568" cy="57605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1426">
                  <a:extLst>
                    <a:ext uri="{9D8B030D-6E8A-4147-A177-3AD203B41FA5}">
                      <a16:colId xmlns:a16="http://schemas.microsoft.com/office/drawing/2014/main" val="1283974795"/>
                    </a:ext>
                  </a:extLst>
                </a:gridCol>
                <a:gridCol w="612080">
                  <a:extLst>
                    <a:ext uri="{9D8B030D-6E8A-4147-A177-3AD203B41FA5}">
                      <a16:colId xmlns:a16="http://schemas.microsoft.com/office/drawing/2014/main" val="4050094119"/>
                    </a:ext>
                  </a:extLst>
                </a:gridCol>
                <a:gridCol w="1946324">
                  <a:extLst>
                    <a:ext uri="{9D8B030D-6E8A-4147-A177-3AD203B41FA5}">
                      <a16:colId xmlns:a16="http://schemas.microsoft.com/office/drawing/2014/main" val="135201871"/>
                    </a:ext>
                  </a:extLst>
                </a:gridCol>
                <a:gridCol w="2062574">
                  <a:extLst>
                    <a:ext uri="{9D8B030D-6E8A-4147-A177-3AD203B41FA5}">
                      <a16:colId xmlns:a16="http://schemas.microsoft.com/office/drawing/2014/main" val="2795340501"/>
                    </a:ext>
                  </a:extLst>
                </a:gridCol>
                <a:gridCol w="1667679">
                  <a:extLst>
                    <a:ext uri="{9D8B030D-6E8A-4147-A177-3AD203B41FA5}">
                      <a16:colId xmlns:a16="http://schemas.microsoft.com/office/drawing/2014/main" val="327019482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3931002295"/>
                    </a:ext>
                  </a:extLst>
                </a:gridCol>
              </a:tblGrid>
              <a:tr h="4360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Sr. No.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Year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Basic Idea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Methodologies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Results 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Limitations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8290722"/>
                  </a:ext>
                </a:extLst>
              </a:tr>
              <a:tr h="50422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1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The paper introduces </a:t>
                      </a:r>
                      <a:r>
                        <a:rPr lang="en-AU" sz="1400" kern="100" dirty="0" err="1">
                          <a:effectLst/>
                        </a:rPr>
                        <a:t>DrowsyDetect</a:t>
                      </a:r>
                      <a:r>
                        <a:rPr lang="en-AU" sz="1400" kern="100" dirty="0">
                          <a:effectLst/>
                        </a:rPr>
                        <a:t>, an Android app utilizing deep learning (</a:t>
                      </a:r>
                      <a:r>
                        <a:rPr lang="en-AU" sz="1400" kern="100" dirty="0" err="1">
                          <a:effectLst/>
                        </a:rPr>
                        <a:t>MobileNet</a:t>
                      </a:r>
                      <a:r>
                        <a:rPr lang="en-AU" sz="1400" kern="100" dirty="0">
                          <a:effectLst/>
                        </a:rPr>
                        <a:t>, VGG16, custom CNN) to detect driver drowsiness by analysing eye closure rate.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Models: </a:t>
                      </a:r>
                      <a:r>
                        <a:rPr lang="en-AU" sz="1400" kern="100" dirty="0" err="1">
                          <a:effectLst/>
                        </a:rPr>
                        <a:t>MobileNet</a:t>
                      </a:r>
                      <a:r>
                        <a:rPr lang="en-AU" sz="1400" kern="100" dirty="0">
                          <a:effectLst/>
                        </a:rPr>
                        <a:t>, VGG16, Custom CNN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Feature Extraction: </a:t>
                      </a:r>
                      <a:r>
                        <a:rPr lang="en-AU" sz="1400" kern="100" dirty="0" err="1">
                          <a:effectLst/>
                        </a:rPr>
                        <a:t>Haar</a:t>
                      </a:r>
                      <a:r>
                        <a:rPr lang="en-AU" sz="1400" kern="100" dirty="0">
                          <a:effectLst/>
                        </a:rPr>
                        <a:t> Cascade for faces and eyes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Data Preprocessing: Normalization, Serialization (pickle)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Training: 15 epochs, learning rate 0.1, binary cross-entropy loss, Adam optimizer, Sigmoid activation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</a:t>
                      </a:r>
                      <a:r>
                        <a:rPr lang="en-AU" sz="1400" kern="100" dirty="0" err="1">
                          <a:effectLst/>
                        </a:rPr>
                        <a:t>MobileNet</a:t>
                      </a:r>
                      <a:r>
                        <a:rPr lang="en-AU" sz="1400" kern="100" dirty="0">
                          <a:effectLst/>
                        </a:rPr>
                        <a:t> and VGG16 both achieved 100% accuracy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VGG16 reached 100% accuracy after 615 epochs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Custom CNN model attained 98.75% accuracy after 1015 epochs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</a:t>
                      </a:r>
                      <a:r>
                        <a:rPr lang="en-AU" sz="1400" kern="100" dirty="0" err="1">
                          <a:effectLst/>
                        </a:rPr>
                        <a:t>MobileNet</a:t>
                      </a:r>
                      <a:r>
                        <a:rPr lang="en-AU" sz="1400" kern="100" dirty="0">
                          <a:effectLst/>
                        </a:rPr>
                        <a:t> and VGG16 outperformed the custom CNN model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The study didn't explore integrating complex features like sleep schedules or emergency triggers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Focused solely on eye closure rate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Limited dataset potentially impacting model generalizability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Challenges with </a:t>
                      </a:r>
                      <a:r>
                        <a:rPr lang="en-US" sz="1400" kern="100" dirty="0" err="1">
                          <a:effectLst/>
                        </a:rPr>
                        <a:t>Haar</a:t>
                      </a:r>
                      <a:r>
                        <a:rPr lang="en-US" sz="1400" kern="100" dirty="0">
                          <a:effectLst/>
                        </a:rPr>
                        <a:t> Cascade for feature extraction weren't discussed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8606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978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19E60-7D79-6B15-069B-2C6FDD383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350121"/>
              </p:ext>
            </p:extLst>
          </p:nvPr>
        </p:nvGraphicFramePr>
        <p:xfrm>
          <a:off x="838199" y="446315"/>
          <a:ext cx="9644744" cy="6101969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54765">
                  <a:extLst>
                    <a:ext uri="{9D8B030D-6E8A-4147-A177-3AD203B41FA5}">
                      <a16:colId xmlns:a16="http://schemas.microsoft.com/office/drawing/2014/main" val="416813337"/>
                    </a:ext>
                  </a:extLst>
                </a:gridCol>
                <a:gridCol w="690971">
                  <a:extLst>
                    <a:ext uri="{9D8B030D-6E8A-4147-A177-3AD203B41FA5}">
                      <a16:colId xmlns:a16="http://schemas.microsoft.com/office/drawing/2014/main" val="1725486759"/>
                    </a:ext>
                  </a:extLst>
                </a:gridCol>
                <a:gridCol w="2197183">
                  <a:extLst>
                    <a:ext uri="{9D8B030D-6E8A-4147-A177-3AD203B41FA5}">
                      <a16:colId xmlns:a16="http://schemas.microsoft.com/office/drawing/2014/main" val="125144868"/>
                    </a:ext>
                  </a:extLst>
                </a:gridCol>
                <a:gridCol w="2328418">
                  <a:extLst>
                    <a:ext uri="{9D8B030D-6E8A-4147-A177-3AD203B41FA5}">
                      <a16:colId xmlns:a16="http://schemas.microsoft.com/office/drawing/2014/main" val="1639298846"/>
                    </a:ext>
                  </a:extLst>
                </a:gridCol>
                <a:gridCol w="1920797">
                  <a:extLst>
                    <a:ext uri="{9D8B030D-6E8A-4147-A177-3AD203B41FA5}">
                      <a16:colId xmlns:a16="http://schemas.microsoft.com/office/drawing/2014/main" val="55282635"/>
                    </a:ext>
                  </a:extLst>
                </a:gridCol>
                <a:gridCol w="1952610">
                  <a:extLst>
                    <a:ext uri="{9D8B030D-6E8A-4147-A177-3AD203B41FA5}">
                      <a16:colId xmlns:a16="http://schemas.microsoft.com/office/drawing/2014/main" val="2244246800"/>
                    </a:ext>
                  </a:extLst>
                </a:gridCol>
              </a:tblGrid>
              <a:tr h="56061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2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The paper presents a real-time driver drowsiness detection system using CNNs, integrating eye blink analysis and yawning detection. It involves video extraction, preprocessing, and CNN-based classification.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Employed SSD </a:t>
                      </a:r>
                      <a:r>
                        <a:rPr lang="en-US" sz="1400" kern="100" dirty="0" err="1">
                          <a:effectLst/>
                        </a:rPr>
                        <a:t>MobileNet</a:t>
                      </a:r>
                      <a:r>
                        <a:rPr lang="en-US" sz="1400" kern="100" dirty="0">
                          <a:effectLst/>
                        </a:rPr>
                        <a:t> V2 </a:t>
                      </a:r>
                      <a:r>
                        <a:rPr lang="en-US" sz="1400" kern="100" dirty="0" err="1">
                          <a:effectLst/>
                        </a:rPr>
                        <a:t>FPNLite</a:t>
                      </a:r>
                      <a:r>
                        <a:rPr lang="en-US" sz="1400" kern="100" dirty="0">
                          <a:effectLst/>
                        </a:rPr>
                        <a:t> 320x320 pre-trained model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Optimized for speed and efficiency in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Training involved a dataset of yawning and blinking images to enhance accuracy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The deep learning model achieved a drowsiness detection accuracy of 62-87%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Mean Average Precision (</a:t>
                      </a:r>
                      <a:r>
                        <a:rPr lang="en-US" sz="1400" kern="100" dirty="0" err="1">
                          <a:effectLst/>
                        </a:rPr>
                        <a:t>mAP</a:t>
                      </a:r>
                      <a:r>
                        <a:rPr lang="en-US" sz="1400" kern="100" dirty="0">
                          <a:effectLst/>
                        </a:rPr>
                        <a:t>): 0.595 at 5000 training steps, 0.56 at 7000 training steps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Average Recall (AR100(Large)): 0.686 at 5000 training steps, 0.662 at 7000 training steps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Model's accuracy ranged from 62-87%, suggesting potential for higher consistency in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Mean Average Precision (</a:t>
                      </a:r>
                      <a:r>
                        <a:rPr lang="en-US" sz="1400" kern="100" dirty="0" err="1">
                          <a:effectLst/>
                        </a:rPr>
                        <a:t>mAP</a:t>
                      </a:r>
                      <a:r>
                        <a:rPr lang="en-US" sz="1400" kern="100" dirty="0">
                          <a:effectLst/>
                        </a:rPr>
                        <a:t>): 0.595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Average recall (AR100(Large)): 0.662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Room for improvement in precision and recall metrics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User Acceptance Testing (UAT) involved only a small sample size of seven participants, potentially limiting generalizability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59" marR="66659" marT="0" marB="0"/>
                </a:tc>
                <a:extLst>
                  <a:ext uri="{0D108BD9-81ED-4DB2-BD59-A6C34878D82A}">
                    <a16:rowId xmlns:a16="http://schemas.microsoft.com/office/drawing/2014/main" val="288991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6331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1F2A21-2DD3-26B6-2E01-8F232E5DD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24257"/>
              </p:ext>
            </p:extLst>
          </p:nvPr>
        </p:nvGraphicFramePr>
        <p:xfrm>
          <a:off x="1010107" y="533399"/>
          <a:ext cx="9407521" cy="5898769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41119">
                  <a:extLst>
                    <a:ext uri="{9D8B030D-6E8A-4147-A177-3AD203B41FA5}">
                      <a16:colId xmlns:a16="http://schemas.microsoft.com/office/drawing/2014/main" val="1636217016"/>
                    </a:ext>
                  </a:extLst>
                </a:gridCol>
                <a:gridCol w="673974">
                  <a:extLst>
                    <a:ext uri="{9D8B030D-6E8A-4147-A177-3AD203B41FA5}">
                      <a16:colId xmlns:a16="http://schemas.microsoft.com/office/drawing/2014/main" val="776172066"/>
                    </a:ext>
                  </a:extLst>
                </a:gridCol>
                <a:gridCol w="2143143">
                  <a:extLst>
                    <a:ext uri="{9D8B030D-6E8A-4147-A177-3AD203B41FA5}">
                      <a16:colId xmlns:a16="http://schemas.microsoft.com/office/drawing/2014/main" val="3477951973"/>
                    </a:ext>
                  </a:extLst>
                </a:gridCol>
                <a:gridCol w="2271148">
                  <a:extLst>
                    <a:ext uri="{9D8B030D-6E8A-4147-A177-3AD203B41FA5}">
                      <a16:colId xmlns:a16="http://schemas.microsoft.com/office/drawing/2014/main" val="4152302382"/>
                    </a:ext>
                  </a:extLst>
                </a:gridCol>
                <a:gridCol w="1873553">
                  <a:extLst>
                    <a:ext uri="{9D8B030D-6E8A-4147-A177-3AD203B41FA5}">
                      <a16:colId xmlns:a16="http://schemas.microsoft.com/office/drawing/2014/main" val="3990551651"/>
                    </a:ext>
                  </a:extLst>
                </a:gridCol>
                <a:gridCol w="1904584">
                  <a:extLst>
                    <a:ext uri="{9D8B030D-6E8A-4147-A177-3AD203B41FA5}">
                      <a16:colId xmlns:a16="http://schemas.microsoft.com/office/drawing/2014/main" val="2473546272"/>
                    </a:ext>
                  </a:extLst>
                </a:gridCol>
              </a:tblGrid>
              <a:tr h="55190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The paper presents a real-time driver drowsiness detection system using CNNs, incorporating eye blink analysis and yawning detection. Steps involve video extraction, preprocessing, data augmentation, and CNN-based classification.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Convolutional Neural Networks (CNNs) used for driver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Integrated eye blink analysis and yawning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Specific CNN model with 3 convolution layers and </a:t>
                      </a:r>
                      <a:r>
                        <a:rPr lang="en-US" sz="1400" kern="100" dirty="0" err="1">
                          <a:effectLst/>
                        </a:rPr>
                        <a:t>ReLU</a:t>
                      </a:r>
                      <a:r>
                        <a:rPr lang="en-US" sz="1400" kern="100" dirty="0">
                          <a:effectLst/>
                        </a:rPr>
                        <a:t> activation functions for yawning feature extraction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Architecture included Conv2D and </a:t>
                      </a:r>
                      <a:r>
                        <a:rPr lang="en-US" sz="1400" kern="100" dirty="0" err="1">
                          <a:effectLst/>
                        </a:rPr>
                        <a:t>MaxPooling</a:t>
                      </a:r>
                      <a:r>
                        <a:rPr lang="en-US" sz="1400" kern="100" dirty="0">
                          <a:effectLst/>
                        </a:rPr>
                        <a:t> layers for efficient image classification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Proposed Convolutional Neural Network model achieved 95% accuracy for driver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</a:t>
                      </a:r>
                      <a:r>
                        <a:rPr lang="en-AU" sz="1400" kern="100" dirty="0" err="1">
                          <a:effectLst/>
                        </a:rPr>
                        <a:t>ConNN</a:t>
                      </a:r>
                      <a:r>
                        <a:rPr lang="en-AU" sz="1400" kern="100" dirty="0">
                          <a:effectLst/>
                        </a:rPr>
                        <a:t> algorithm demonstrated superior accuracy rates of 99% compared to existing CNN-based methods for recognizing driver fatigue conditions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Yawning detection evaluation metrics: precision 0.9207, recall 0.8774, F1 score 0.8985 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The study lacks information on how well the proposed model would generalize to different datasets and real-world scenarios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Indicates a need for further validation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More testing needed to assess the model's performance across diverse driving conditions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Larger dataset required for comprehensive evaluation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80" marR="65180" marT="0" marB="0"/>
                </a:tc>
                <a:extLst>
                  <a:ext uri="{0D108BD9-81ED-4DB2-BD59-A6C34878D82A}">
                    <a16:rowId xmlns:a16="http://schemas.microsoft.com/office/drawing/2014/main" val="800104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46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6DA073-F850-A096-8CBF-88CC44BB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70677"/>
              </p:ext>
            </p:extLst>
          </p:nvPr>
        </p:nvGraphicFramePr>
        <p:xfrm>
          <a:off x="838200" y="620484"/>
          <a:ext cx="9840687" cy="6127052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66034">
                  <a:extLst>
                    <a:ext uri="{9D8B030D-6E8A-4147-A177-3AD203B41FA5}">
                      <a16:colId xmlns:a16="http://schemas.microsoft.com/office/drawing/2014/main" val="1367926781"/>
                    </a:ext>
                  </a:extLst>
                </a:gridCol>
                <a:gridCol w="705007">
                  <a:extLst>
                    <a:ext uri="{9D8B030D-6E8A-4147-A177-3AD203B41FA5}">
                      <a16:colId xmlns:a16="http://schemas.microsoft.com/office/drawing/2014/main" val="2811782705"/>
                    </a:ext>
                  </a:extLst>
                </a:gridCol>
                <a:gridCol w="2241823">
                  <a:extLst>
                    <a:ext uri="{9D8B030D-6E8A-4147-A177-3AD203B41FA5}">
                      <a16:colId xmlns:a16="http://schemas.microsoft.com/office/drawing/2014/main" val="3190315129"/>
                    </a:ext>
                  </a:extLst>
                </a:gridCol>
                <a:gridCol w="2375723">
                  <a:extLst>
                    <a:ext uri="{9D8B030D-6E8A-4147-A177-3AD203B41FA5}">
                      <a16:colId xmlns:a16="http://schemas.microsoft.com/office/drawing/2014/main" val="2782175430"/>
                    </a:ext>
                  </a:extLst>
                </a:gridCol>
                <a:gridCol w="1959819">
                  <a:extLst>
                    <a:ext uri="{9D8B030D-6E8A-4147-A177-3AD203B41FA5}">
                      <a16:colId xmlns:a16="http://schemas.microsoft.com/office/drawing/2014/main" val="2705700828"/>
                    </a:ext>
                  </a:extLst>
                </a:gridCol>
                <a:gridCol w="1992281">
                  <a:extLst>
                    <a:ext uri="{9D8B030D-6E8A-4147-A177-3AD203B41FA5}">
                      <a16:colId xmlns:a16="http://schemas.microsoft.com/office/drawing/2014/main" val="3389953288"/>
                    </a:ext>
                  </a:extLst>
                </a:gridCol>
              </a:tblGrid>
              <a:tr h="46155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5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The paper introduces a real-time system using computer vision and machine learning to detect driver drowsiness. It aims to address road safety concerns, especially in India.Machine learning, particularly a Convolutional Neural Network (CNN), is integrated to accurately identify signs of driver fatigue.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System employs computer vision, machine learning, and sensor integration for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Data preprocessing techniques applied during training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Convolutional Neural Network (CNN) model used for prediction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Architecture integrates a CNN-based machine learning algorithm for sleepiness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Includes a user-friendly interface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Developed drowsiness detection application achieved an F1 score of 89%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Demonstrates balanced performance in precision and recall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Outperformed existing solutions in accuracy, precision, recall rates, and overall F1 score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Indicates effectiveness in identifying drowsiness levels and minimizing false positives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Lack of extensive investigations into incorporating machine learning algorithms into user-friendly mobile applications customized for specific geographical locations like India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Scarcity of user studies assessing the usability, efficacy, and real-world implications of the drowsiness detection application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Further research needed to authenticate the practical usefulness of the developed application in real-world scenarios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50" marR="57450" marT="0" marB="0"/>
                </a:tc>
                <a:extLst>
                  <a:ext uri="{0D108BD9-81ED-4DB2-BD59-A6C34878D82A}">
                    <a16:rowId xmlns:a16="http://schemas.microsoft.com/office/drawing/2014/main" val="310352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1264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3289A1-C7A2-C145-C562-AE5C62C22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79060"/>
              </p:ext>
            </p:extLst>
          </p:nvPr>
        </p:nvGraphicFramePr>
        <p:xfrm>
          <a:off x="620487" y="479615"/>
          <a:ext cx="10112827" cy="5898769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81688">
                  <a:extLst>
                    <a:ext uri="{9D8B030D-6E8A-4147-A177-3AD203B41FA5}">
                      <a16:colId xmlns:a16="http://schemas.microsoft.com/office/drawing/2014/main" val="1808911401"/>
                    </a:ext>
                  </a:extLst>
                </a:gridCol>
                <a:gridCol w="724504">
                  <a:extLst>
                    <a:ext uri="{9D8B030D-6E8A-4147-A177-3AD203B41FA5}">
                      <a16:colId xmlns:a16="http://schemas.microsoft.com/office/drawing/2014/main" val="3599438129"/>
                    </a:ext>
                  </a:extLst>
                </a:gridCol>
                <a:gridCol w="2303819">
                  <a:extLst>
                    <a:ext uri="{9D8B030D-6E8A-4147-A177-3AD203B41FA5}">
                      <a16:colId xmlns:a16="http://schemas.microsoft.com/office/drawing/2014/main" val="110251532"/>
                    </a:ext>
                  </a:extLst>
                </a:gridCol>
                <a:gridCol w="2441423">
                  <a:extLst>
                    <a:ext uri="{9D8B030D-6E8A-4147-A177-3AD203B41FA5}">
                      <a16:colId xmlns:a16="http://schemas.microsoft.com/office/drawing/2014/main" val="2103813179"/>
                    </a:ext>
                  </a:extLst>
                </a:gridCol>
                <a:gridCol w="2014017">
                  <a:extLst>
                    <a:ext uri="{9D8B030D-6E8A-4147-A177-3AD203B41FA5}">
                      <a16:colId xmlns:a16="http://schemas.microsoft.com/office/drawing/2014/main" val="2959589028"/>
                    </a:ext>
                  </a:extLst>
                </a:gridCol>
                <a:gridCol w="2047376">
                  <a:extLst>
                    <a:ext uri="{9D8B030D-6E8A-4147-A177-3AD203B41FA5}">
                      <a16:colId xmlns:a16="http://schemas.microsoft.com/office/drawing/2014/main" val="3345693132"/>
                    </a:ext>
                  </a:extLst>
                </a:gridCol>
              </a:tblGrid>
              <a:tr h="40603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4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2023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</a:rPr>
                        <a:t>The study focuses on real-time drowsiness detection using </a:t>
                      </a:r>
                      <a:r>
                        <a:rPr lang="en-AU" sz="1400" kern="100" dirty="0" err="1">
                          <a:effectLst/>
                        </a:rPr>
                        <a:t>MobileNet</a:t>
                      </a:r>
                      <a:r>
                        <a:rPr lang="en-AU" sz="1400" kern="100" dirty="0">
                          <a:effectLst/>
                        </a:rPr>
                        <a:t>, a deep convolutional neural network. </a:t>
                      </a:r>
                      <a:r>
                        <a:rPr lang="en-AU" sz="1400" kern="100" dirty="0" err="1">
                          <a:effectLst/>
                        </a:rPr>
                        <a:t>MobileNet's</a:t>
                      </a:r>
                      <a:r>
                        <a:rPr lang="en-AU" sz="1400" kern="100" dirty="0">
                          <a:effectLst/>
                        </a:rPr>
                        <a:t> design prioritizes efficiency for mobile devices, making it suitable for applications like real-time drowsiness detection.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Employed facial feature extraction and classification for drowsiness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Analyzed data collected from cameras monitoring the driver's face using machine learning algorithms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Used a combination of </a:t>
                      </a:r>
                      <a:r>
                        <a:rPr lang="en-US" sz="1400" kern="100" dirty="0" err="1">
                          <a:effectLst/>
                        </a:rPr>
                        <a:t>Haar</a:t>
                      </a:r>
                      <a:r>
                        <a:rPr lang="en-US" sz="1400" kern="100" dirty="0">
                          <a:effectLst/>
                        </a:rPr>
                        <a:t>-like features and the AdaBoost algorithm for eye state analysis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Head pose analysis utilized a particle filter-based algorithm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Drowsiness detection conducted using the </a:t>
                      </a:r>
                      <a:r>
                        <a:rPr lang="en-US" sz="1400" kern="100" dirty="0" err="1">
                          <a:effectLst/>
                        </a:rPr>
                        <a:t>MobileNet</a:t>
                      </a:r>
                      <a:r>
                        <a:rPr lang="en-US" sz="1400" kern="100" dirty="0">
                          <a:effectLst/>
                        </a:rPr>
                        <a:t> V1 architecture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Drowsiness detection system, utilizing </a:t>
                      </a:r>
                      <a:r>
                        <a:rPr lang="en-US" sz="1400" kern="100" dirty="0" err="1">
                          <a:effectLst/>
                        </a:rPr>
                        <a:t>MobileNet</a:t>
                      </a:r>
                      <a:r>
                        <a:rPr lang="en-US" sz="1400" kern="100" dirty="0">
                          <a:effectLst/>
                        </a:rPr>
                        <a:t> V1 architecture, achieved an accuracy of 97.45%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Overall accuracy in detecting driver sleepiness: 92.6%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Proposed method for eye state analysis achieved an accuracy of 94.23% in detecting drowsiness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Study concentrated on drowsiness detection using </a:t>
                      </a:r>
                      <a:r>
                        <a:rPr lang="en-US" sz="1400" kern="100" dirty="0" err="1">
                          <a:effectLst/>
                        </a:rPr>
                        <a:t>MobileNet</a:t>
                      </a:r>
                      <a:r>
                        <a:rPr lang="en-US" sz="1400" kern="100" dirty="0">
                          <a:effectLst/>
                        </a:rPr>
                        <a:t> without exploring other deep learning architectures for comparison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Emphasized facial feature extraction and classification, potentially neglecting other physiological indicators of drowsiness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System's performance evaluation based on specific datasets and conditions, possibly restricting generalizability to diverse real-world scenarios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05" marR="59505" marT="0" marB="0"/>
                </a:tc>
                <a:extLst>
                  <a:ext uri="{0D108BD9-81ED-4DB2-BD59-A6C34878D82A}">
                    <a16:rowId xmlns:a16="http://schemas.microsoft.com/office/drawing/2014/main" val="1321781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9749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00A050-0C46-C3FF-07E0-768B5FCF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555135"/>
              </p:ext>
            </p:extLst>
          </p:nvPr>
        </p:nvGraphicFramePr>
        <p:xfrm>
          <a:off x="685800" y="435430"/>
          <a:ext cx="10178143" cy="5290439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85445">
                  <a:extLst>
                    <a:ext uri="{9D8B030D-6E8A-4147-A177-3AD203B41FA5}">
                      <a16:colId xmlns:a16="http://schemas.microsoft.com/office/drawing/2014/main" val="1249344179"/>
                    </a:ext>
                  </a:extLst>
                </a:gridCol>
                <a:gridCol w="729184">
                  <a:extLst>
                    <a:ext uri="{9D8B030D-6E8A-4147-A177-3AD203B41FA5}">
                      <a16:colId xmlns:a16="http://schemas.microsoft.com/office/drawing/2014/main" val="1724666398"/>
                    </a:ext>
                  </a:extLst>
                </a:gridCol>
                <a:gridCol w="2318699">
                  <a:extLst>
                    <a:ext uri="{9D8B030D-6E8A-4147-A177-3AD203B41FA5}">
                      <a16:colId xmlns:a16="http://schemas.microsoft.com/office/drawing/2014/main" val="363058879"/>
                    </a:ext>
                  </a:extLst>
                </a:gridCol>
                <a:gridCol w="2457191">
                  <a:extLst>
                    <a:ext uri="{9D8B030D-6E8A-4147-A177-3AD203B41FA5}">
                      <a16:colId xmlns:a16="http://schemas.microsoft.com/office/drawing/2014/main" val="2556655218"/>
                    </a:ext>
                  </a:extLst>
                </a:gridCol>
                <a:gridCol w="2027025">
                  <a:extLst>
                    <a:ext uri="{9D8B030D-6E8A-4147-A177-3AD203B41FA5}">
                      <a16:colId xmlns:a16="http://schemas.microsoft.com/office/drawing/2014/main" val="2813004405"/>
                    </a:ext>
                  </a:extLst>
                </a:gridCol>
                <a:gridCol w="2060599">
                  <a:extLst>
                    <a:ext uri="{9D8B030D-6E8A-4147-A177-3AD203B41FA5}">
                      <a16:colId xmlns:a16="http://schemas.microsoft.com/office/drawing/2014/main" val="2685192749"/>
                    </a:ext>
                  </a:extLst>
                </a:gridCol>
              </a:tblGrid>
              <a:tr h="5257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6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</a:rPr>
                        <a:t>2020</a:t>
                      </a:r>
                      <a:endParaRPr lang="en-A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br>
                        <a:rPr lang="en-AU" sz="1400" kern="100" dirty="0">
                          <a:effectLst/>
                        </a:rPr>
                      </a:br>
                      <a:r>
                        <a:rPr lang="en-AU" sz="1400" kern="100" dirty="0">
                          <a:effectLst/>
                        </a:rPr>
                        <a:t>The paper focuses on real-time driver drowsiness detection using a lightweight neural network approach. It </a:t>
                      </a:r>
                      <a:r>
                        <a:rPr lang="en-AU" sz="1400" kern="100" dirty="0" err="1">
                          <a:effectLst/>
                        </a:rPr>
                        <a:t>analyzes</a:t>
                      </a:r>
                      <a:r>
                        <a:rPr lang="en-AU" sz="1400" kern="100" dirty="0">
                          <a:effectLst/>
                        </a:rPr>
                        <a:t> facial landmarks captured by a camera and processed by a Convolutional Neural Network (CNN) for classification.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Utilized facial landmarks detected by a camera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Processed through a Convolutional Neural Network (CNN) for drowsiness classification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Video preprocessing involved extracting images from video frames in 4 stages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Incorporated </a:t>
                      </a:r>
                      <a:r>
                        <a:rPr lang="en-AU" sz="1400" kern="100" dirty="0" err="1">
                          <a:effectLst/>
                        </a:rPr>
                        <a:t>MaxPooling</a:t>
                      </a:r>
                      <a:r>
                        <a:rPr lang="en-AU" sz="1400" kern="100" dirty="0">
                          <a:effectLst/>
                        </a:rPr>
                        <a:t> and </a:t>
                      </a:r>
                      <a:r>
                        <a:rPr lang="en-AU" sz="1400" kern="100" dirty="0" err="1">
                          <a:effectLst/>
                        </a:rPr>
                        <a:t>ReLU</a:t>
                      </a:r>
                      <a:r>
                        <a:rPr lang="en-AU" sz="1400" kern="100" dirty="0">
                          <a:effectLst/>
                        </a:rPr>
                        <a:t> functions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System detected facial landmarks from mobile device images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1400" kern="100" dirty="0">
                          <a:effectLst/>
                        </a:rPr>
                        <a:t>- Fed them into a CNN-based trained Deep Learning model for detecting drowsy driving </a:t>
                      </a:r>
                      <a:r>
                        <a:rPr lang="en-AU" sz="1400" kern="100" dirty="0" err="1">
                          <a:effectLst/>
                        </a:rPr>
                        <a:t>behavior</a:t>
                      </a:r>
                      <a:r>
                        <a:rPr lang="en-AU" sz="1400" kern="100" dirty="0">
                          <a:effectLst/>
                        </a:rPr>
                        <a:t>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D2CNN-FLD method achieved an 83.3% overall accuracy in detecting driver drowsiness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Displayed significant reductions in size, complexity, and storage compared to the older D2MLP-FLD model, with a maximum size of 75 KB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Drowsiness detection time for D2CNN-FLD was 38.45 </a:t>
                      </a:r>
                      <a:r>
                        <a:rPr lang="en-US" sz="1400" kern="100" dirty="0" err="1">
                          <a:effectLst/>
                        </a:rPr>
                        <a:t>ms</a:t>
                      </a:r>
                      <a:r>
                        <a:rPr lang="en-US" sz="1400" kern="100" dirty="0">
                          <a:effectLst/>
                        </a:rPr>
                        <a:t> on a Dell workstation with NVIDIA Quadro P4000</a:t>
                      </a:r>
                      <a:r>
                        <a:rPr lang="en-AU" sz="1400" kern="100" dirty="0">
                          <a:effectLst/>
                        </a:rPr>
                        <a:t>.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Technology may face limitations when facial features are obstructed by sunglasses or under poor lighting conditions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</a:rPr>
                        <a:t>- Improvement opportunities exist in enhancing facial feature detection, particularly in challenging lighting environments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4042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696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00A050-0C46-C3FF-07E0-768B5FCF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98070"/>
              </p:ext>
            </p:extLst>
          </p:nvPr>
        </p:nvGraphicFramePr>
        <p:xfrm>
          <a:off x="685800" y="435430"/>
          <a:ext cx="10178143" cy="5976684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585445">
                  <a:extLst>
                    <a:ext uri="{9D8B030D-6E8A-4147-A177-3AD203B41FA5}">
                      <a16:colId xmlns:a16="http://schemas.microsoft.com/office/drawing/2014/main" val="1249344179"/>
                    </a:ext>
                  </a:extLst>
                </a:gridCol>
                <a:gridCol w="729184">
                  <a:extLst>
                    <a:ext uri="{9D8B030D-6E8A-4147-A177-3AD203B41FA5}">
                      <a16:colId xmlns:a16="http://schemas.microsoft.com/office/drawing/2014/main" val="1724666398"/>
                    </a:ext>
                  </a:extLst>
                </a:gridCol>
                <a:gridCol w="2318699">
                  <a:extLst>
                    <a:ext uri="{9D8B030D-6E8A-4147-A177-3AD203B41FA5}">
                      <a16:colId xmlns:a16="http://schemas.microsoft.com/office/drawing/2014/main" val="363058879"/>
                    </a:ext>
                  </a:extLst>
                </a:gridCol>
                <a:gridCol w="2457191">
                  <a:extLst>
                    <a:ext uri="{9D8B030D-6E8A-4147-A177-3AD203B41FA5}">
                      <a16:colId xmlns:a16="http://schemas.microsoft.com/office/drawing/2014/main" val="2556655218"/>
                    </a:ext>
                  </a:extLst>
                </a:gridCol>
                <a:gridCol w="2027025">
                  <a:extLst>
                    <a:ext uri="{9D8B030D-6E8A-4147-A177-3AD203B41FA5}">
                      <a16:colId xmlns:a16="http://schemas.microsoft.com/office/drawing/2014/main" val="2813004405"/>
                    </a:ext>
                  </a:extLst>
                </a:gridCol>
                <a:gridCol w="2060599">
                  <a:extLst>
                    <a:ext uri="{9D8B030D-6E8A-4147-A177-3AD203B41FA5}">
                      <a16:colId xmlns:a16="http://schemas.microsoft.com/office/drawing/2014/main" val="2685192749"/>
                    </a:ext>
                  </a:extLst>
                </a:gridCol>
              </a:tblGrid>
              <a:tr h="5257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paper introduces a method for real-time drowsiness detection in surveillance videos by </a:t>
                      </a:r>
                      <a:r>
                        <a:rPr lang="en-AU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analyzing</a:t>
                      </a:r>
                      <a:r>
                        <a:rPr lang="en-AU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eyelid closure using face detection and eyelid curvature detection. It involves detecting faces with the Viola-Jones algorithm, identifying the driver's face, and </a:t>
                      </a:r>
                      <a:r>
                        <a:rPr lang="en-AU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analyzing</a:t>
                      </a:r>
                      <a:r>
                        <a:rPr lang="en-AU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the eye region for eyelid curvature. Closed eyelids are detected based on concave curves, with upward curves indicating closure and downward curves indicating open eyes.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Viola-Jones object detection algorithm used for face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Eyes extracted for further analysis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Eyelid curvature determined using a modified Sobel operator to detect eyelid closure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Eyes classified as open or closed based on this curvature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Method achieved high classification accuracy across different datasets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Effectiveness demonstrated for real-time drowsiness detection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Achieved up to 95% accuracy on a uniform background dataset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- 70% accuracy on a benchmark dataset with varied face deformations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Maintained 95% accuracy in real-time video datasets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Eyelid curvature detection and eye classification had a 97% accuracy relative to eye detection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Correct eye classification observed in the benchmark dataset, with some incorrect results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Overall, the method effectively detected open and closed eyes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Dataset limitations stem from the rejection of images with severe out-of-plane and in-plane rotations, impacting the dataset's representativeness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Accuracy of the proposed method relies on eye detection accuracy, which was 98%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This accuracy level influences the overall relative accuracy</a:t>
                      </a:r>
                      <a:endParaRPr lang="en-A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4042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125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619615" y="1516063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Asim, F., &amp; Sunil, S. (2023).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DrowsyDetect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Android Application for Driver Drowsiness Detection Using Eye Closure Rate with Deep Learning. </a:t>
            </a:r>
            <a:r>
              <a:rPr lang="en-AU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Student Research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Retrieved from https://www.jsr.org/index.php/path/article/view/2152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F. Ridwan and L. P. Hung, "Driver-Drowsiness Detection System Using Deep Learning (CNN)," 2023 IEEE International Conference on Artificial Intelligence in Engineering and Technology (IICAIET), Kota Kinabalu, Malaysia, 2023, pp. 78-83,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10.1109/IICAIET59451.2023.10291637.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Shereesha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Sreehitha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 R. Reddy, J. Srikanth and H. R. Varma, "Driver Drowsiness Detection using Convolutional Neural Networks(CNNs)," 2023 4th IEEE Global Conference for Advancement in Technology (GCAT), Bangalore, India, 2023, pp. 1-5,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10.1109/GCAT59970.2023.10353337.</a:t>
            </a:r>
          </a:p>
        </p:txBody>
      </p:sp>
      <p:sp>
        <p:nvSpPr>
          <p:cNvPr id="183" name="Google Shape;183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A34D75B5-B3B5-5774-AAC6-6748847BC5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4;p2">
            <a:extLst>
              <a:ext uri="{FF2B5EF4-FFF2-40B4-BE49-F238E27FC236}">
                <a16:creationId xmlns:a16="http://schemas.microsoft.com/office/drawing/2014/main" id="{7BF64D9E-009E-0FD9-1B38-0EDCC39DDC40}"/>
              </a:ext>
            </a:extLst>
          </p:cNvPr>
          <p:cNvSpPr txBox="1">
            <a:spLocks/>
          </p:cNvSpPr>
          <p:nvPr/>
        </p:nvSpPr>
        <p:spPr>
          <a:xfrm>
            <a:off x="619615" y="287583"/>
            <a:ext cx="3672078" cy="9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dirty="0"/>
              <a:t>References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862290" y="990599"/>
            <a:ext cx="8595360" cy="5579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 S. Bharti, R. Mahajan, S.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Bhoriya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A. Bhat, "Driver’s Drowsiness Detection using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MobileNet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Web," 2023 7th International Conference on Intelligent Computing and Control Systems (ICICCS), Madurai, India, 2023, pp. 1229-1233,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10.1109/ICICCS56967.2023.10142379.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Ritesh, N.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Jagatia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P. Deshmukh, "Driver Drowsiness Detection Using Machine Learning," 2023 6th International Conference on Advances in Science and Technology (ICAST), Mumbai, India, 2023, pp. 100-105,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10.1109/ICAST59062.2023.10455018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A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[6]. 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 Jabbar, M.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Shinoy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Kharbeche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K. Al-Khalifa, M.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Krichen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K.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Barkaoui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"Driver Drowsiness Detection Model Using Convolutional Neural Networks Techniques for Android Application," 2020 IEEE International Conference on Informatics, IoT, and Enabling Technologies (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ICIoT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Doha, Qatar, 2020, pp. 237-242,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10.1109/ICIoT48696.2020.9089484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AU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[7]. </a:t>
            </a:r>
            <a:r>
              <a:rPr lang="en-A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Tayab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Khan, M., Anwar, H., Ullah, F., Ur Rehman, A., Ullah, R., Iqbal, A., Lee, B.-H., &amp; Kwak, K. S. (2019). Smart Real-Time Video Surveillance Platform for Drowsiness Detection Based on Eyelid Closure. </a:t>
            </a:r>
            <a:r>
              <a:rPr lang="en-AU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Wireless Communications and Mobile Computing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2019, 2036818. doi:10.1155/2019/2036818</a:t>
            </a:r>
          </a:p>
          <a:p>
            <a:pPr marL="0" lvl="0" indent="0">
              <a:lnSpc>
                <a:spcPct val="107000"/>
              </a:lnSpc>
              <a:buNone/>
            </a:pPr>
            <a:endParaRPr lang="en-A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2" name="Google Shape;125;p3" descr="National University of Computer and Emerging Sciences - Wikipedia">
            <a:extLst>
              <a:ext uri="{FF2B5EF4-FFF2-40B4-BE49-F238E27FC236}">
                <a16:creationId xmlns:a16="http://schemas.microsoft.com/office/drawing/2014/main" id="{A34D75B5-B3B5-5774-AAC6-6748847BC5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9003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3563</Words>
  <Application>Microsoft Office PowerPoint</Application>
  <PresentationFormat>Widescreen</PresentationFormat>
  <Paragraphs>466</Paragraphs>
  <Slides>59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Century Schoolbook</vt:lpstr>
      <vt:lpstr>Calibri</vt:lpstr>
      <vt:lpstr>Arial</vt:lpstr>
      <vt:lpstr>View</vt:lpstr>
      <vt:lpstr>View</vt:lpstr>
      <vt:lpstr>Real-time Image-based Driver Drowsiness Detection using Deep Learning</vt:lpstr>
      <vt:lpstr>Introduction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Models:</vt:lpstr>
      <vt:lpstr>Models Used (Image Classification):</vt:lpstr>
      <vt:lpstr>Models Used (MobileNet):</vt:lpstr>
      <vt:lpstr>Models Used(custom CNN):</vt:lpstr>
      <vt:lpstr>Models Used (custom CNN):</vt:lpstr>
      <vt:lpstr>Image Data Overview:</vt:lpstr>
      <vt:lpstr>PowerPoint Presentation</vt:lpstr>
      <vt:lpstr>Preprocessing:</vt:lpstr>
      <vt:lpstr>Accuracy:</vt:lpstr>
      <vt:lpstr>Models Used (Sensors):</vt:lpstr>
      <vt:lpstr>Models Used</vt:lpstr>
      <vt:lpstr>Models Used</vt:lpstr>
      <vt:lpstr>PowerPoint Presentation</vt:lpstr>
      <vt:lpstr>Models Used</vt:lpstr>
      <vt:lpstr>Sensor Data Overview:</vt:lpstr>
      <vt:lpstr>Sensor Data Overview:</vt:lpstr>
      <vt:lpstr>Data Representation and Preprocessing:</vt:lpstr>
      <vt:lpstr>Models Accuracy and Testing:</vt:lpstr>
      <vt:lpstr>PowerPoint Presentation</vt:lpstr>
      <vt:lpstr>PowerPoint Presentation</vt:lpstr>
      <vt:lpstr>Challenges: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Image-based Driver Drowsiness Detection using Deep Learning</dc:title>
  <dc:creator>zeshan khan</dc:creator>
  <cp:lastModifiedBy>Aimal Khan</cp:lastModifiedBy>
  <cp:revision>187</cp:revision>
  <dcterms:created xsi:type="dcterms:W3CDTF">2022-09-07T06:12:25Z</dcterms:created>
  <dcterms:modified xsi:type="dcterms:W3CDTF">2024-11-26T16:38:05Z</dcterms:modified>
</cp:coreProperties>
</file>